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9" r:id="rId6"/>
    <p:sldId id="290" r:id="rId7"/>
    <p:sldId id="291" r:id="rId8"/>
    <p:sldId id="292" r:id="rId9"/>
    <p:sldId id="283" r:id="rId10"/>
    <p:sldId id="261" r:id="rId11"/>
    <p:sldId id="284" r:id="rId12"/>
    <p:sldId id="285" r:id="rId13"/>
    <p:sldId id="286" r:id="rId14"/>
    <p:sldId id="287" r:id="rId15"/>
    <p:sldId id="289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E02"/>
    <a:srgbClr val="067F9C"/>
    <a:srgbClr val="014E52"/>
    <a:srgbClr val="1DA9BF"/>
    <a:srgbClr val="01C6FD"/>
    <a:srgbClr val="0C596D"/>
    <a:srgbClr val="03556D"/>
    <a:srgbClr val="145C72"/>
    <a:srgbClr val="0000A4"/>
    <a:srgbClr val="1AB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A352C0-25C4-4662-B293-BB848470708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CBED5C-1BF4-47F1-9EA1-E1DBD8376395}">
      <dgm:prSet phldrT="[Text]" custT="1"/>
      <dgm:spPr>
        <a:solidFill>
          <a:srgbClr val="067F9C"/>
        </a:solidFill>
      </dgm:spPr>
      <dgm:t>
        <a:bodyPr/>
        <a:lstStyle/>
        <a:p>
          <a:r>
            <a:rPr lang="en-US" sz="2400" u="none" dirty="0" smtClean="0"/>
            <a:t>Adaptive Learning for Complex Thinking: A Systematic Review of Users' Profiling Strategies</a:t>
          </a:r>
          <a:endParaRPr lang="en-US" sz="2400" u="none" dirty="0"/>
        </a:p>
      </dgm:t>
    </dgm:pt>
    <dgm:pt modelId="{DF732790-A17C-4CCB-B52A-2670B6FC6FB4}" type="parTrans" cxnId="{0AFA2D32-4B0E-44FB-B288-6A3DD5FA9940}">
      <dgm:prSet/>
      <dgm:spPr/>
      <dgm:t>
        <a:bodyPr/>
        <a:lstStyle/>
        <a:p>
          <a:endParaRPr lang="en-US"/>
        </a:p>
      </dgm:t>
    </dgm:pt>
    <dgm:pt modelId="{C0039228-3FC6-4D7E-A969-FFA18FF81C2F}" type="sibTrans" cxnId="{0AFA2D32-4B0E-44FB-B288-6A3DD5FA9940}">
      <dgm:prSet/>
      <dgm:spPr/>
      <dgm:t>
        <a:bodyPr/>
        <a:lstStyle/>
        <a:p>
          <a:endParaRPr lang="en-US"/>
        </a:p>
      </dgm:t>
    </dgm:pt>
    <dgm:pt modelId="{D56FBC36-C66A-4FC2-8E41-1B6D54AAB0D1}">
      <dgm:prSet phldrT="[Text]" custT="1"/>
      <dgm:spPr>
        <a:solidFill>
          <a:srgbClr val="1DA9BF"/>
        </a:solidFill>
      </dgm:spPr>
      <dgm:t>
        <a:bodyPr/>
        <a:lstStyle/>
        <a:p>
          <a:r>
            <a:rPr lang="en-US" sz="2400" dirty="0" smtClean="0"/>
            <a:t>Implicit User Profiling in News Recommender Systems</a:t>
          </a:r>
          <a:endParaRPr lang="en-US" sz="2400" dirty="0"/>
        </a:p>
      </dgm:t>
    </dgm:pt>
    <dgm:pt modelId="{C88D563A-8A3B-4CF2-81E9-E371F237B564}" type="parTrans" cxnId="{FA7C5414-743A-45D7-80B3-1A695792D14B}">
      <dgm:prSet/>
      <dgm:spPr/>
      <dgm:t>
        <a:bodyPr/>
        <a:lstStyle/>
        <a:p>
          <a:endParaRPr lang="en-US"/>
        </a:p>
      </dgm:t>
    </dgm:pt>
    <dgm:pt modelId="{98BD4000-789B-40F3-AE73-0A9AC0ECFB97}" type="sibTrans" cxnId="{FA7C5414-743A-45D7-80B3-1A695792D14B}">
      <dgm:prSet/>
      <dgm:spPr/>
      <dgm:t>
        <a:bodyPr/>
        <a:lstStyle/>
        <a:p>
          <a:endParaRPr lang="en-US"/>
        </a:p>
      </dgm:t>
    </dgm:pt>
    <dgm:pt modelId="{9917B761-CA60-4321-8BD1-7B9C95C1F7A5}">
      <dgm:prSet phldrT="[Text]" custT="1"/>
      <dgm:spPr>
        <a:solidFill>
          <a:srgbClr val="1DA9BF"/>
        </a:solidFill>
      </dgm:spPr>
      <dgm:t>
        <a:bodyPr/>
        <a:lstStyle/>
        <a:p>
          <a:pPr rtl="0"/>
          <a:r>
            <a:rPr lang="en-US" sz="2400" dirty="0" smtClean="0"/>
            <a:t>Ontological User Proﬁling in Recommender Systems</a:t>
          </a:r>
          <a:endParaRPr lang="en-US" sz="2400" dirty="0"/>
        </a:p>
      </dgm:t>
    </dgm:pt>
    <dgm:pt modelId="{EC0FC2CB-4D28-47C7-BDF5-73DF1E3C5DE4}" type="parTrans" cxnId="{62BA2C75-12C4-4985-A821-833B1D45EE4E}">
      <dgm:prSet/>
      <dgm:spPr/>
      <dgm:t>
        <a:bodyPr/>
        <a:lstStyle/>
        <a:p>
          <a:endParaRPr lang="en-US"/>
        </a:p>
      </dgm:t>
    </dgm:pt>
    <dgm:pt modelId="{2F6DA222-0AC4-4788-8B68-7F787D870038}" type="sibTrans" cxnId="{62BA2C75-12C4-4985-A821-833B1D45EE4E}">
      <dgm:prSet/>
      <dgm:spPr/>
      <dgm:t>
        <a:bodyPr/>
        <a:lstStyle/>
        <a:p>
          <a:endParaRPr lang="en-US"/>
        </a:p>
      </dgm:t>
    </dgm:pt>
    <dgm:pt modelId="{93E9EC0F-1666-43F8-9193-757E3F925C11}">
      <dgm:prSet phldrT="[Text]" custT="1"/>
      <dgm:spPr>
        <a:solidFill>
          <a:srgbClr val="067F9C"/>
        </a:solidFill>
      </dgm:spPr>
      <dgm:t>
        <a:bodyPr/>
        <a:lstStyle/>
        <a:p>
          <a:pPr rtl="0"/>
          <a:r>
            <a:rPr lang="en-US" sz="2400" dirty="0" smtClean="0"/>
            <a:t>An intelligent e-learning system based on learner profiling and learning resources adaptation</a:t>
          </a:r>
          <a:endParaRPr lang="en-US" sz="2400" dirty="0"/>
        </a:p>
      </dgm:t>
    </dgm:pt>
    <dgm:pt modelId="{ABA7338D-B384-45E2-9267-722C60DB538A}" type="parTrans" cxnId="{7E80EB9D-6B40-46EF-8DC9-5445E7D741EF}">
      <dgm:prSet/>
      <dgm:spPr/>
      <dgm:t>
        <a:bodyPr/>
        <a:lstStyle/>
        <a:p>
          <a:endParaRPr lang="en-US"/>
        </a:p>
      </dgm:t>
    </dgm:pt>
    <dgm:pt modelId="{C71E7C4D-773E-46B0-9719-E483281B2430}" type="sibTrans" cxnId="{7E80EB9D-6B40-46EF-8DC9-5445E7D741EF}">
      <dgm:prSet/>
      <dgm:spPr/>
      <dgm:t>
        <a:bodyPr/>
        <a:lstStyle/>
        <a:p>
          <a:endParaRPr lang="en-US"/>
        </a:p>
      </dgm:t>
    </dgm:pt>
    <dgm:pt modelId="{0D69273F-989B-4457-97D4-484D66DDA241}" type="pres">
      <dgm:prSet presAssocID="{1BA352C0-25C4-4662-B293-BB8484707085}" presName="diagram" presStyleCnt="0">
        <dgm:presLayoutVars>
          <dgm:dir/>
          <dgm:resizeHandles val="exact"/>
        </dgm:presLayoutVars>
      </dgm:prSet>
      <dgm:spPr/>
    </dgm:pt>
    <dgm:pt modelId="{040A6400-A178-4106-A181-AA5615FA6351}" type="pres">
      <dgm:prSet presAssocID="{77CBED5C-1BF4-47F1-9EA1-E1DBD8376395}" presName="node" presStyleLbl="node1" presStyleIdx="0" presStyleCnt="4" custScaleX="136231" custLinFactNeighborX="-6930" custLinFactNeighborY="79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EE3370-EDB0-4AB5-9626-90EF3156921F}" type="pres">
      <dgm:prSet presAssocID="{C0039228-3FC6-4D7E-A969-FFA18FF81C2F}" presName="sibTrans" presStyleCnt="0"/>
      <dgm:spPr/>
    </dgm:pt>
    <dgm:pt modelId="{3DFFB5CE-69A6-4D44-9515-FFD77093B57A}" type="pres">
      <dgm:prSet presAssocID="{D56FBC36-C66A-4FC2-8E41-1B6D54AAB0D1}" presName="node" presStyleLbl="node1" presStyleIdx="1" presStyleCnt="4" custScaleX="14235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45A967-191A-4953-AD35-074F487B40AB}" type="pres">
      <dgm:prSet presAssocID="{98BD4000-789B-40F3-AE73-0A9AC0ECFB97}" presName="sibTrans" presStyleCnt="0"/>
      <dgm:spPr/>
    </dgm:pt>
    <dgm:pt modelId="{45C4389C-AA8C-4E21-B67E-5B5B3F97D299}" type="pres">
      <dgm:prSet presAssocID="{9917B761-CA60-4321-8BD1-7B9C95C1F7A5}" presName="node" presStyleLbl="node1" presStyleIdx="2" presStyleCnt="4" custScaleX="136367" custLinFactNeighborX="-14822" custLinFactNeighborY="2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5D2F5F-206C-41DF-A87C-2FC327A9EFD2}" type="pres">
      <dgm:prSet presAssocID="{2F6DA222-0AC4-4788-8B68-7F787D870038}" presName="sibTrans" presStyleCnt="0"/>
      <dgm:spPr/>
    </dgm:pt>
    <dgm:pt modelId="{F723BA90-C3F3-4AB2-8E24-E4A928BAB0B2}" type="pres">
      <dgm:prSet presAssocID="{93E9EC0F-1666-43F8-9193-757E3F925C11}" presName="node" presStyleLbl="node1" presStyleIdx="3" presStyleCnt="4" custScaleX="141497" custLinFactNeighborX="452" custLinFactNeighborY="6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2024AB2-7587-4DC4-BB09-AC2D680C21D4}" type="presOf" srcId="{93E9EC0F-1666-43F8-9193-757E3F925C11}" destId="{F723BA90-C3F3-4AB2-8E24-E4A928BAB0B2}" srcOrd="0" destOrd="0" presId="urn:microsoft.com/office/officeart/2005/8/layout/default"/>
    <dgm:cxn modelId="{7E80EB9D-6B40-46EF-8DC9-5445E7D741EF}" srcId="{1BA352C0-25C4-4662-B293-BB8484707085}" destId="{93E9EC0F-1666-43F8-9193-757E3F925C11}" srcOrd="3" destOrd="0" parTransId="{ABA7338D-B384-45E2-9267-722C60DB538A}" sibTransId="{C71E7C4D-773E-46B0-9719-E483281B2430}"/>
    <dgm:cxn modelId="{B7AFCC69-075A-457D-849D-5C590042D449}" type="presOf" srcId="{77CBED5C-1BF4-47F1-9EA1-E1DBD8376395}" destId="{040A6400-A178-4106-A181-AA5615FA6351}" srcOrd="0" destOrd="0" presId="urn:microsoft.com/office/officeart/2005/8/layout/default"/>
    <dgm:cxn modelId="{53999FF1-B80C-442D-B926-728DD12D68D6}" type="presOf" srcId="{9917B761-CA60-4321-8BD1-7B9C95C1F7A5}" destId="{45C4389C-AA8C-4E21-B67E-5B5B3F97D299}" srcOrd="0" destOrd="0" presId="urn:microsoft.com/office/officeart/2005/8/layout/default"/>
    <dgm:cxn modelId="{DAE80829-6908-4AAE-AADA-3D8C4AD80A39}" type="presOf" srcId="{1BA352C0-25C4-4662-B293-BB8484707085}" destId="{0D69273F-989B-4457-97D4-484D66DDA241}" srcOrd="0" destOrd="0" presId="urn:microsoft.com/office/officeart/2005/8/layout/default"/>
    <dgm:cxn modelId="{0AFA2D32-4B0E-44FB-B288-6A3DD5FA9940}" srcId="{1BA352C0-25C4-4662-B293-BB8484707085}" destId="{77CBED5C-1BF4-47F1-9EA1-E1DBD8376395}" srcOrd="0" destOrd="0" parTransId="{DF732790-A17C-4CCB-B52A-2670B6FC6FB4}" sibTransId="{C0039228-3FC6-4D7E-A969-FFA18FF81C2F}"/>
    <dgm:cxn modelId="{62BA2C75-12C4-4985-A821-833B1D45EE4E}" srcId="{1BA352C0-25C4-4662-B293-BB8484707085}" destId="{9917B761-CA60-4321-8BD1-7B9C95C1F7A5}" srcOrd="2" destOrd="0" parTransId="{EC0FC2CB-4D28-47C7-BDF5-73DF1E3C5DE4}" sibTransId="{2F6DA222-0AC4-4788-8B68-7F787D870038}"/>
    <dgm:cxn modelId="{FA7C5414-743A-45D7-80B3-1A695792D14B}" srcId="{1BA352C0-25C4-4662-B293-BB8484707085}" destId="{D56FBC36-C66A-4FC2-8E41-1B6D54AAB0D1}" srcOrd="1" destOrd="0" parTransId="{C88D563A-8A3B-4CF2-81E9-E371F237B564}" sibTransId="{98BD4000-789B-40F3-AE73-0A9AC0ECFB97}"/>
    <dgm:cxn modelId="{5C932FEC-1287-4F0A-8B59-E2E0AA780930}" type="presOf" srcId="{D56FBC36-C66A-4FC2-8E41-1B6D54AAB0D1}" destId="{3DFFB5CE-69A6-4D44-9515-FFD77093B57A}" srcOrd="0" destOrd="0" presId="urn:microsoft.com/office/officeart/2005/8/layout/default"/>
    <dgm:cxn modelId="{412060D4-369C-4EA0-9657-D7C40725D993}" type="presParOf" srcId="{0D69273F-989B-4457-97D4-484D66DDA241}" destId="{040A6400-A178-4106-A181-AA5615FA6351}" srcOrd="0" destOrd="0" presId="urn:microsoft.com/office/officeart/2005/8/layout/default"/>
    <dgm:cxn modelId="{A36BAB2A-76C8-4AB7-935E-AADDED398F69}" type="presParOf" srcId="{0D69273F-989B-4457-97D4-484D66DDA241}" destId="{6CEE3370-EDB0-4AB5-9626-90EF3156921F}" srcOrd="1" destOrd="0" presId="urn:microsoft.com/office/officeart/2005/8/layout/default"/>
    <dgm:cxn modelId="{8A2172A5-E822-4B48-A2C0-2BC5AB79657D}" type="presParOf" srcId="{0D69273F-989B-4457-97D4-484D66DDA241}" destId="{3DFFB5CE-69A6-4D44-9515-FFD77093B57A}" srcOrd="2" destOrd="0" presId="urn:microsoft.com/office/officeart/2005/8/layout/default"/>
    <dgm:cxn modelId="{16050E95-B7BA-4DE1-879B-405B7FE9ED0A}" type="presParOf" srcId="{0D69273F-989B-4457-97D4-484D66DDA241}" destId="{AB45A967-191A-4953-AD35-074F487B40AB}" srcOrd="3" destOrd="0" presId="urn:microsoft.com/office/officeart/2005/8/layout/default"/>
    <dgm:cxn modelId="{1B175457-13B4-4A64-B4DA-640C29655869}" type="presParOf" srcId="{0D69273F-989B-4457-97D4-484D66DDA241}" destId="{45C4389C-AA8C-4E21-B67E-5B5B3F97D299}" srcOrd="4" destOrd="0" presId="urn:microsoft.com/office/officeart/2005/8/layout/default"/>
    <dgm:cxn modelId="{55B07228-B241-4C7D-A409-9189B315E54B}" type="presParOf" srcId="{0D69273F-989B-4457-97D4-484D66DDA241}" destId="{D95D2F5F-206C-41DF-A87C-2FC327A9EFD2}" srcOrd="5" destOrd="0" presId="urn:microsoft.com/office/officeart/2005/8/layout/default"/>
    <dgm:cxn modelId="{CE5652AE-59C7-48AE-A76F-D331FEFEFD9E}" type="presParOf" srcId="{0D69273F-989B-4457-97D4-484D66DDA241}" destId="{F723BA90-C3F3-4AB2-8E24-E4A928BAB0B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A6400-A178-4106-A181-AA5615FA6351}">
      <dsp:nvSpPr>
        <dsp:cNvPr id="0" name=""/>
        <dsp:cNvSpPr/>
      </dsp:nvSpPr>
      <dsp:spPr>
        <a:xfrm>
          <a:off x="0" y="20940"/>
          <a:ext cx="5255103" cy="2314496"/>
        </a:xfrm>
        <a:prstGeom prst="rect">
          <a:avLst/>
        </a:prstGeom>
        <a:solidFill>
          <a:srgbClr val="067F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u="none" kern="1200" dirty="0" smtClean="0"/>
            <a:t>Adaptive Learning for Complex Thinking: A Systematic Review of Users' Profiling Strategies</a:t>
          </a:r>
          <a:endParaRPr lang="en-US" sz="2400" u="none" kern="1200" dirty="0"/>
        </a:p>
      </dsp:txBody>
      <dsp:txXfrm>
        <a:off x="0" y="20940"/>
        <a:ext cx="5255103" cy="2314496"/>
      </dsp:txXfrm>
    </dsp:sp>
    <dsp:sp modelId="{3DFFB5CE-69A6-4D44-9515-FFD77093B57A}">
      <dsp:nvSpPr>
        <dsp:cNvPr id="0" name=""/>
        <dsp:cNvSpPr/>
      </dsp:nvSpPr>
      <dsp:spPr>
        <a:xfrm>
          <a:off x="5661870" y="2656"/>
          <a:ext cx="5491298" cy="2314496"/>
        </a:xfrm>
        <a:prstGeom prst="rect">
          <a:avLst/>
        </a:prstGeom>
        <a:solidFill>
          <a:srgbClr val="1DA9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Implicit User Profiling in News Recommender Systems</a:t>
          </a:r>
          <a:endParaRPr lang="en-US" sz="2400" kern="1200" dirty="0"/>
        </a:p>
      </dsp:txBody>
      <dsp:txXfrm>
        <a:off x="5661870" y="2656"/>
        <a:ext cx="5491298" cy="2314496"/>
      </dsp:txXfrm>
    </dsp:sp>
    <dsp:sp modelId="{45C4389C-AA8C-4E21-B67E-5B5B3F97D299}">
      <dsp:nvSpPr>
        <dsp:cNvPr id="0" name=""/>
        <dsp:cNvSpPr/>
      </dsp:nvSpPr>
      <dsp:spPr>
        <a:xfrm>
          <a:off x="0" y="2705559"/>
          <a:ext cx="5260350" cy="2314496"/>
        </a:xfrm>
        <a:prstGeom prst="rect">
          <a:avLst/>
        </a:prstGeom>
        <a:solidFill>
          <a:srgbClr val="1DA9BF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Ontological User Proﬁling in Recommender Systems</a:t>
          </a:r>
          <a:endParaRPr lang="en-US" sz="2400" kern="1200" dirty="0"/>
        </a:p>
      </dsp:txBody>
      <dsp:txXfrm>
        <a:off x="0" y="2705559"/>
        <a:ext cx="5260350" cy="2314496"/>
      </dsp:txXfrm>
    </dsp:sp>
    <dsp:sp modelId="{F723BA90-C3F3-4AB2-8E24-E4A928BAB0B2}">
      <dsp:nvSpPr>
        <dsp:cNvPr id="0" name=""/>
        <dsp:cNvSpPr/>
      </dsp:nvSpPr>
      <dsp:spPr>
        <a:xfrm>
          <a:off x="5698458" y="2705559"/>
          <a:ext cx="5458239" cy="2314496"/>
        </a:xfrm>
        <a:prstGeom prst="rect">
          <a:avLst/>
        </a:prstGeom>
        <a:solidFill>
          <a:srgbClr val="067F9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An intelligent e-learning system based on learner profiling and learning resources adaptation</a:t>
          </a:r>
          <a:endParaRPr lang="en-US" sz="2400" kern="1200" dirty="0"/>
        </a:p>
      </dsp:txBody>
      <dsp:txXfrm>
        <a:off x="5698458" y="2705559"/>
        <a:ext cx="5458239" cy="2314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56876A3F-4FE3-4D4F-B92F-1631838507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94516C7-1FF3-F44B-93B1-24B9AA324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C92B-6A45-864A-B429-22A9039765DA}" type="datetimeFigureOut">
              <a:rPr lang="en-US" smtClean="0"/>
              <a:t>28-Feb-26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DC6268A-8AA9-4C40-BEFB-029DF3E811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8E928AC-AE76-324A-BA05-D16BF60C79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2C3C4-9460-4343-9283-24A378E271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48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5FE6-BEE9-465E-9202-2D200EDE749C}" type="datetimeFigureOut">
              <a:rPr lang="en-US" noProof="0" smtClean="0"/>
              <a:t>28-Feb-26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E8F2A-B3D4-43F2-B39B-CD77F64A195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617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="" xmlns:a16="http://schemas.microsoft.com/office/drawing/2014/main" id="{8B934246-87B1-4444-9DCA-06622CAD55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3992" y="124953"/>
            <a:ext cx="11944014" cy="4372387"/>
          </a:xfrm>
          <a:custGeom>
            <a:avLst/>
            <a:gdLst>
              <a:gd name="connsiteX0" fmla="*/ 0 w 11944014"/>
              <a:gd name="connsiteY0" fmla="*/ 0 h 4372387"/>
              <a:gd name="connsiteX1" fmla="*/ 11944014 w 11944014"/>
              <a:gd name="connsiteY1" fmla="*/ 0 h 4372387"/>
              <a:gd name="connsiteX2" fmla="*/ 11944014 w 11944014"/>
              <a:gd name="connsiteY2" fmla="*/ 4064314 h 4372387"/>
              <a:gd name="connsiteX3" fmla="*/ 11419539 w 11944014"/>
              <a:gd name="connsiteY3" fmla="*/ 4152711 h 4372387"/>
              <a:gd name="connsiteX4" fmla="*/ 4857299 w 11944014"/>
              <a:gd name="connsiteY4" fmla="*/ 3772522 h 4372387"/>
              <a:gd name="connsiteX5" fmla="*/ 510557 w 11944014"/>
              <a:gd name="connsiteY5" fmla="*/ 3115117 h 4372387"/>
              <a:gd name="connsiteX6" fmla="*/ 0 w 11944014"/>
              <a:gd name="connsiteY6" fmla="*/ 3085767 h 437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44014" h="4372387">
                <a:moveTo>
                  <a:pt x="0" y="0"/>
                </a:moveTo>
                <a:lnTo>
                  <a:pt x="11944014" y="0"/>
                </a:lnTo>
                <a:lnTo>
                  <a:pt x="11944014" y="4064314"/>
                </a:lnTo>
                <a:lnTo>
                  <a:pt x="11419539" y="4152711"/>
                </a:lnTo>
                <a:cubicBezTo>
                  <a:pt x="10120431" y="4379826"/>
                  <a:pt x="8581267" y="4634432"/>
                  <a:pt x="4857299" y="3772522"/>
                </a:cubicBezTo>
                <a:cubicBezTo>
                  <a:pt x="3261016" y="3403063"/>
                  <a:pt x="1951876" y="3212078"/>
                  <a:pt x="510557" y="3115117"/>
                </a:cubicBezTo>
                <a:lnTo>
                  <a:pt x="0" y="30857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="" xmlns:a16="http://schemas.microsoft.com/office/drawing/2014/main" id="{1E99C6B2-05CE-48A7-8696-CEC64BE74DF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custGeom>
            <a:avLst/>
            <a:gdLst>
              <a:gd name="connsiteX0" fmla="*/ 123993 w 12192001"/>
              <a:gd name="connsiteY0" fmla="*/ 123993 h 6858000"/>
              <a:gd name="connsiteX1" fmla="*/ 123993 w 12192001"/>
              <a:gd name="connsiteY1" fmla="*/ 3209760 h 6858000"/>
              <a:gd name="connsiteX2" fmla="*/ 634550 w 12192001"/>
              <a:gd name="connsiteY2" fmla="*/ 3239110 h 6858000"/>
              <a:gd name="connsiteX3" fmla="*/ 4981292 w 12192001"/>
              <a:gd name="connsiteY3" fmla="*/ 3896515 h 6858000"/>
              <a:gd name="connsiteX4" fmla="*/ 11543532 w 12192001"/>
              <a:gd name="connsiteY4" fmla="*/ 4276704 h 6858000"/>
              <a:gd name="connsiteX5" fmla="*/ 12068007 w 12192001"/>
              <a:gd name="connsiteY5" fmla="*/ 4188307 h 6858000"/>
              <a:gd name="connsiteX6" fmla="*/ 12068007 w 12192001"/>
              <a:gd name="connsiteY6" fmla="*/ 123993 h 6858000"/>
              <a:gd name="connsiteX7" fmla="*/ 0 w 12192001"/>
              <a:gd name="connsiteY7" fmla="*/ 0 h 6858000"/>
              <a:gd name="connsiteX8" fmla="*/ 12192000 w 12192001"/>
              <a:gd name="connsiteY8" fmla="*/ 0 h 6858000"/>
              <a:gd name="connsiteX9" fmla="*/ 12192000 w 12192001"/>
              <a:gd name="connsiteY9" fmla="*/ 4167393 h 6858000"/>
              <a:gd name="connsiteX10" fmla="*/ 12192001 w 12192001"/>
              <a:gd name="connsiteY10" fmla="*/ 4167393 h 6858000"/>
              <a:gd name="connsiteX11" fmla="*/ 12192001 w 12192001"/>
              <a:gd name="connsiteY11" fmla="*/ 4799849 h 6858000"/>
              <a:gd name="connsiteX12" fmla="*/ 12192001 w 12192001"/>
              <a:gd name="connsiteY12" fmla="*/ 4950491 h 6858000"/>
              <a:gd name="connsiteX13" fmla="*/ 12192001 w 12192001"/>
              <a:gd name="connsiteY13" fmla="*/ 6858000 h 6858000"/>
              <a:gd name="connsiteX14" fmla="*/ 12192000 w 12192001"/>
              <a:gd name="connsiteY14" fmla="*/ 6858000 h 6858000"/>
              <a:gd name="connsiteX15" fmla="*/ 1 w 12192001"/>
              <a:gd name="connsiteY15" fmla="*/ 6858000 h 6858000"/>
              <a:gd name="connsiteX16" fmla="*/ 0 w 12192001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1" h="6858000">
                <a:moveTo>
                  <a:pt x="123993" y="123993"/>
                </a:moveTo>
                <a:lnTo>
                  <a:pt x="123993" y="3209760"/>
                </a:lnTo>
                <a:lnTo>
                  <a:pt x="634550" y="3239110"/>
                </a:lnTo>
                <a:cubicBezTo>
                  <a:pt x="2075869" y="3336071"/>
                  <a:pt x="3385009" y="3527056"/>
                  <a:pt x="4981292" y="3896515"/>
                </a:cubicBezTo>
                <a:cubicBezTo>
                  <a:pt x="8705260" y="4758425"/>
                  <a:pt x="10244424" y="4503819"/>
                  <a:pt x="11543532" y="4276704"/>
                </a:cubicBezTo>
                <a:lnTo>
                  <a:pt x="12068007" y="4188307"/>
                </a:lnTo>
                <a:lnTo>
                  <a:pt x="12068007" y="1239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167393"/>
                </a:lnTo>
                <a:lnTo>
                  <a:pt x="12192001" y="4167393"/>
                </a:lnTo>
                <a:lnTo>
                  <a:pt x="12192001" y="4799849"/>
                </a:lnTo>
                <a:lnTo>
                  <a:pt x="12192001" y="4950491"/>
                </a:lnTo>
                <a:lnTo>
                  <a:pt x="12192001" y="6858000"/>
                </a:lnTo>
                <a:lnTo>
                  <a:pt x="12192000" y="685800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0484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D314F9CD-0693-4A94-A67A-F71413300A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39624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3"/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7B386286-CEE2-E94A-BBC0-0A3723EB14DE}"/>
              </a:ext>
            </a:extLst>
          </p:cNvPr>
          <p:cNvSpPr/>
          <p:nvPr userDrawn="1"/>
        </p:nvSpPr>
        <p:spPr>
          <a:xfrm>
            <a:off x="11008895" y="6220326"/>
            <a:ext cx="866273" cy="63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5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="" xmlns:a16="http://schemas.microsoft.com/office/drawing/2014/main" id="{6D24BA90-E7BA-471E-AA13-3329EDCD80A2}"/>
              </a:ext>
            </a:extLst>
          </p:cNvPr>
          <p:cNvSpPr/>
          <p:nvPr userDrawn="1"/>
        </p:nvSpPr>
        <p:spPr>
          <a:xfrm flipV="1">
            <a:off x="-1" y="-3"/>
            <a:ext cx="12192001" cy="6858003"/>
          </a:xfrm>
          <a:custGeom>
            <a:avLst/>
            <a:gdLst>
              <a:gd name="connsiteX0" fmla="*/ 9171734 w 12192001"/>
              <a:gd name="connsiteY0" fmla="*/ 2269381 h 6858003"/>
              <a:gd name="connsiteX1" fmla="*/ 4981292 w 12192001"/>
              <a:gd name="connsiteY1" fmla="*/ 1670903 h 6858003"/>
              <a:gd name="connsiteX2" fmla="*/ 634550 w 12192001"/>
              <a:gd name="connsiteY2" fmla="*/ 1013497 h 6858003"/>
              <a:gd name="connsiteX3" fmla="*/ 123993 w 12192001"/>
              <a:gd name="connsiteY3" fmla="*/ 984148 h 6858003"/>
              <a:gd name="connsiteX4" fmla="*/ 123993 w 12192001"/>
              <a:gd name="connsiteY4" fmla="*/ 123993 h 6858003"/>
              <a:gd name="connsiteX5" fmla="*/ 12068007 w 12192001"/>
              <a:gd name="connsiteY5" fmla="*/ 123993 h 6858003"/>
              <a:gd name="connsiteX6" fmla="*/ 12068007 w 12192001"/>
              <a:gd name="connsiteY6" fmla="*/ 1962695 h 6858003"/>
              <a:gd name="connsiteX7" fmla="*/ 11543532 w 12192001"/>
              <a:gd name="connsiteY7" fmla="*/ 2051091 h 6858003"/>
              <a:gd name="connsiteX8" fmla="*/ 9171734 w 12192001"/>
              <a:gd name="connsiteY8" fmla="*/ 2269381 h 6858003"/>
              <a:gd name="connsiteX9" fmla="*/ 1 w 12192001"/>
              <a:gd name="connsiteY9" fmla="*/ 6858003 h 6858003"/>
              <a:gd name="connsiteX10" fmla="*/ 12192001 w 12192001"/>
              <a:gd name="connsiteY10" fmla="*/ 6858003 h 6858003"/>
              <a:gd name="connsiteX11" fmla="*/ 12192001 w 12192001"/>
              <a:gd name="connsiteY11" fmla="*/ 2724879 h 6858003"/>
              <a:gd name="connsiteX12" fmla="*/ 12192001 w 12192001"/>
              <a:gd name="connsiteY12" fmla="*/ 2477360 h 6858003"/>
              <a:gd name="connsiteX13" fmla="*/ 12192001 w 12192001"/>
              <a:gd name="connsiteY13" fmla="*/ 1941781 h 6858003"/>
              <a:gd name="connsiteX14" fmla="*/ 12192000 w 12192001"/>
              <a:gd name="connsiteY14" fmla="*/ 1941781 h 6858003"/>
              <a:gd name="connsiteX15" fmla="*/ 12192000 w 12192001"/>
              <a:gd name="connsiteY15" fmla="*/ 0 h 6858003"/>
              <a:gd name="connsiteX16" fmla="*/ 0 w 12192001"/>
              <a:gd name="connsiteY16" fmla="*/ 0 h 6858003"/>
              <a:gd name="connsiteX17" fmla="*/ 0 w 12192001"/>
              <a:gd name="connsiteY17" fmla="*/ 6858000 h 6858003"/>
              <a:gd name="connsiteX18" fmla="*/ 1 w 12192001"/>
              <a:gd name="connsiteY18" fmla="*/ 6858000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1" h="6858003">
                <a:moveTo>
                  <a:pt x="9171734" y="2269381"/>
                </a:moveTo>
                <a:cubicBezTo>
                  <a:pt x="8159059" y="2253684"/>
                  <a:pt x="6843276" y="2101858"/>
                  <a:pt x="4981292" y="1670903"/>
                </a:cubicBezTo>
                <a:cubicBezTo>
                  <a:pt x="3385010" y="1301444"/>
                  <a:pt x="2075869" y="1110459"/>
                  <a:pt x="634550" y="1013497"/>
                </a:cubicBezTo>
                <a:lnTo>
                  <a:pt x="123993" y="984148"/>
                </a:lnTo>
                <a:lnTo>
                  <a:pt x="123993" y="123993"/>
                </a:lnTo>
                <a:lnTo>
                  <a:pt x="12068007" y="123993"/>
                </a:lnTo>
                <a:lnTo>
                  <a:pt x="12068007" y="1962695"/>
                </a:lnTo>
                <a:lnTo>
                  <a:pt x="11543532" y="2051091"/>
                </a:lnTo>
                <a:cubicBezTo>
                  <a:pt x="10893978" y="2164649"/>
                  <a:pt x="10184410" y="2285079"/>
                  <a:pt x="9171734" y="2269381"/>
                </a:cubicBezTo>
                <a:close/>
                <a:moveTo>
                  <a:pt x="1" y="6858003"/>
                </a:moveTo>
                <a:lnTo>
                  <a:pt x="12192001" y="6858003"/>
                </a:lnTo>
                <a:lnTo>
                  <a:pt x="12192001" y="2724879"/>
                </a:lnTo>
                <a:lnTo>
                  <a:pt x="12192001" y="2477360"/>
                </a:lnTo>
                <a:lnTo>
                  <a:pt x="12192001" y="1941781"/>
                </a:lnTo>
                <a:lnTo>
                  <a:pt x="12192000" y="1941781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9467520A-F508-4AA5-BBCF-30AE2B312E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92" y="4587876"/>
            <a:ext cx="11944014" cy="2146775"/>
          </a:xfrm>
          <a:custGeom>
            <a:avLst/>
            <a:gdLst>
              <a:gd name="connsiteX0" fmla="*/ 9047741 w 11944014"/>
              <a:gd name="connsiteY0" fmla="*/ 1387 h 2146775"/>
              <a:gd name="connsiteX1" fmla="*/ 11419539 w 11944014"/>
              <a:gd name="connsiteY1" fmla="*/ 219677 h 2146775"/>
              <a:gd name="connsiteX2" fmla="*/ 11944014 w 11944014"/>
              <a:gd name="connsiteY2" fmla="*/ 308073 h 2146775"/>
              <a:gd name="connsiteX3" fmla="*/ 11944014 w 11944014"/>
              <a:gd name="connsiteY3" fmla="*/ 2146775 h 2146775"/>
              <a:gd name="connsiteX4" fmla="*/ 0 w 11944014"/>
              <a:gd name="connsiteY4" fmla="*/ 2146775 h 2146775"/>
              <a:gd name="connsiteX5" fmla="*/ 0 w 11944014"/>
              <a:gd name="connsiteY5" fmla="*/ 1286620 h 2146775"/>
              <a:gd name="connsiteX6" fmla="*/ 510557 w 11944014"/>
              <a:gd name="connsiteY6" fmla="*/ 1257271 h 2146775"/>
              <a:gd name="connsiteX7" fmla="*/ 4857299 w 11944014"/>
              <a:gd name="connsiteY7" fmla="*/ 599865 h 2146775"/>
              <a:gd name="connsiteX8" fmla="*/ 9047741 w 11944014"/>
              <a:gd name="connsiteY8" fmla="*/ 1387 h 214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44014" h="2146775">
                <a:moveTo>
                  <a:pt x="9047741" y="1387"/>
                </a:moveTo>
                <a:cubicBezTo>
                  <a:pt x="10060417" y="-14311"/>
                  <a:pt x="10769985" y="106119"/>
                  <a:pt x="11419539" y="219677"/>
                </a:cubicBezTo>
                <a:lnTo>
                  <a:pt x="11944014" y="308073"/>
                </a:lnTo>
                <a:lnTo>
                  <a:pt x="11944014" y="2146775"/>
                </a:lnTo>
                <a:lnTo>
                  <a:pt x="0" y="2146775"/>
                </a:lnTo>
                <a:lnTo>
                  <a:pt x="0" y="1286620"/>
                </a:lnTo>
                <a:lnTo>
                  <a:pt x="510557" y="1257271"/>
                </a:lnTo>
                <a:cubicBezTo>
                  <a:pt x="1951876" y="1160309"/>
                  <a:pt x="3261017" y="969324"/>
                  <a:pt x="4857299" y="599865"/>
                </a:cubicBezTo>
                <a:cubicBezTo>
                  <a:pt x="6719283" y="168910"/>
                  <a:pt x="8035066" y="17084"/>
                  <a:pt x="9047741" y="13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1611383"/>
            <a:ext cx="9666514" cy="746846"/>
          </a:xfrm>
        </p:spPr>
        <p:txBody>
          <a:bodyPr anchor="t">
            <a:noAutofit/>
          </a:bodyPr>
          <a:lstStyle>
            <a:lvl1pPr>
              <a:defRPr sz="4800" spc="-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Section Header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2464424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60C8850-C2CD-4E0B-AA6F-6B884EB94B4B}"/>
              </a:ext>
            </a:extLst>
          </p:cNvPr>
          <p:cNvSpPr/>
          <p:nvPr userDrawn="1"/>
        </p:nvSpPr>
        <p:spPr>
          <a:xfrm>
            <a:off x="435429" y="1532049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0D3D7B7-CDD7-4664-B2D8-6F60FEAEAC45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9E81145E-5F17-4CB6-9E17-ECF3BB38DE75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139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="" xmlns:a16="http://schemas.microsoft.com/office/drawing/2014/main" id="{A836EFBB-5449-47CB-96D6-CB08287F75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3860800"/>
            <a:ext cx="9666514" cy="1686720"/>
          </a:xfrm>
        </p:spPr>
        <p:txBody>
          <a:bodyPr anchor="b">
            <a:noAutofit/>
          </a:bodyPr>
          <a:lstStyle>
            <a:lvl1pPr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Section Header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5610170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5B68A07C-35C9-40A7-8487-9EAD314C595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CE9143E8-1B27-4F08-9F20-BE30B14AC24E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5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=""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3B7F86AE-7774-0B40-8944-DF91C77B0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6315" y="1463040"/>
            <a:ext cx="8030935" cy="477009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3012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618346-1C0B-46DB-AAA6-71C865DE85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6315" y="1463040"/>
            <a:ext cx="8030935" cy="477009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0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05328109-BF43-024A-B25B-C69E4098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51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=""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="" xmlns:a16="http://schemas.microsoft.com/office/drawing/2014/main" id="{1F05F3BA-65F5-4621-807B-C8B857D01C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38900" y="1463346"/>
            <a:ext cx="5181600" cy="48700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="" xmlns:a16="http://schemas.microsoft.com/office/drawing/2014/main" id="{CDF89E18-CCB2-4D69-AB77-CAB656EC211C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38898" y="2149311"/>
            <a:ext cx="5181601" cy="404035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="" xmlns:a16="http://schemas.microsoft.com/office/drawing/2014/main" id="{986F9159-693C-4325-939A-8C6869B2246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6314" y="1463346"/>
            <a:ext cx="5306787" cy="48700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="" xmlns:a16="http://schemas.microsoft.com/office/drawing/2014/main" id="{BEA361C8-0231-48E8-965E-6BB6D606C9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314" y="2149311"/>
            <a:ext cx="5306789" cy="404035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96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1509626"/>
            <a:ext cx="4900386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="" xmlns:a16="http://schemas.microsoft.com/office/drawing/2014/main" id="{3F93C618-7612-42AB-B890-45E85BD492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0114" y="1509626"/>
            <a:ext cx="4900386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2156688"/>
            <a:ext cx="4900386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="" xmlns:a16="http://schemas.microsoft.com/office/drawing/2014/main" id="{464BC696-49A6-4328-BB42-5566BAC00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0114" y="2156688"/>
            <a:ext cx="4900386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0FB9F81-CC7F-5244-95A6-279BE4B5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4025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2C6531E-FB8E-4000-B873-B745C681E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48876"/>
            <a:ext cx="12192000" cy="2119313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40" y="3802065"/>
            <a:ext cx="9784080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40" y="4294303"/>
            <a:ext cx="9784080" cy="173736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5951AB2-D568-4A7E-9408-FADC8BED4119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4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="" xmlns:a16="http://schemas.microsoft.com/office/drawing/2014/main" id="{92C6531E-FB8E-4000-B873-B745C681E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48876"/>
            <a:ext cx="12192000" cy="2119313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40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="" xmlns:a16="http://schemas.microsoft.com/office/drawing/2014/main" id="{3F93C618-7612-42AB-B890-45E85BD492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26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="" xmlns:a16="http://schemas.microsoft.com/office/drawing/2014/main" id="{08664829-F6FB-4E31-BF5C-C895ADF2BA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99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40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="" xmlns:a16="http://schemas.microsoft.com/office/drawing/2014/main" id="{464BC696-49A6-4328-BB42-5566BAC00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3026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="" xmlns:a16="http://schemas.microsoft.com/office/drawing/2014/main" id="{7E9E558E-F7EF-4347-AD3C-FDB2A9BCF6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5999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B9AD2AC4-32E8-BC46-848C-BEA37118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448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="" xmlns:a16="http://schemas.microsoft.com/office/drawing/2014/main" id="{679784BB-7CDD-484B-8F47-9CF1D79993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99200" y="0"/>
            <a:ext cx="5892800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93776"/>
            <a:ext cx="5170715" cy="1089529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499" y="2061165"/>
            <a:ext cx="5045529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=""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499" y="2708227"/>
            <a:ext cx="5045529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1E6A75B6-7B4E-496F-A846-0FFBB6E1D164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7648ACB4-9C22-4636-800F-578055A5BC10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87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="" xmlns:a16="http://schemas.microsoft.com/office/drawing/2014/main" id="{D5C833BC-89A8-4D28-9D63-F45F14D694BF}"/>
              </a:ext>
            </a:extLst>
          </p:cNvPr>
          <p:cNvSpPr/>
          <p:nvPr userDrawn="1"/>
        </p:nvSpPr>
        <p:spPr>
          <a:xfrm flipH="1">
            <a:off x="123987" y="124955"/>
            <a:ext cx="11953415" cy="4408002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17 w 21617"/>
              <a:gd name="connsiteY0" fmla="*/ 0 h 23765"/>
              <a:gd name="connsiteX1" fmla="*/ 21617 w 21617"/>
              <a:gd name="connsiteY1" fmla="*/ 0 h 23765"/>
              <a:gd name="connsiteX2" fmla="*/ 21617 w 21617"/>
              <a:gd name="connsiteY2" fmla="*/ 17322 h 23765"/>
              <a:gd name="connsiteX3" fmla="*/ 0 w 21617"/>
              <a:gd name="connsiteY3" fmla="*/ 22875 h 23765"/>
              <a:gd name="connsiteX4" fmla="*/ 17 w 21617"/>
              <a:gd name="connsiteY4" fmla="*/ 0 h 23765"/>
              <a:gd name="connsiteX0" fmla="*/ 17 w 21617"/>
              <a:gd name="connsiteY0" fmla="*/ 0 h 24368"/>
              <a:gd name="connsiteX1" fmla="*/ 21617 w 21617"/>
              <a:gd name="connsiteY1" fmla="*/ 0 h 24368"/>
              <a:gd name="connsiteX2" fmla="*/ 21617 w 21617"/>
              <a:gd name="connsiteY2" fmla="*/ 17322 h 24368"/>
              <a:gd name="connsiteX3" fmla="*/ 0 w 21617"/>
              <a:gd name="connsiteY3" fmla="*/ 22875 h 24368"/>
              <a:gd name="connsiteX4" fmla="*/ 17 w 21617"/>
              <a:gd name="connsiteY4" fmla="*/ 0 h 24368"/>
              <a:gd name="connsiteX0" fmla="*/ 17 w 21617"/>
              <a:gd name="connsiteY0" fmla="*/ 0 h 24514"/>
              <a:gd name="connsiteX1" fmla="*/ 21617 w 21617"/>
              <a:gd name="connsiteY1" fmla="*/ 0 h 24514"/>
              <a:gd name="connsiteX2" fmla="*/ 21617 w 21617"/>
              <a:gd name="connsiteY2" fmla="*/ 17322 h 24514"/>
              <a:gd name="connsiteX3" fmla="*/ 0 w 21617"/>
              <a:gd name="connsiteY3" fmla="*/ 22875 h 24514"/>
              <a:gd name="connsiteX4" fmla="*/ 17 w 21617"/>
              <a:gd name="connsiteY4" fmla="*/ 0 h 24514"/>
              <a:gd name="connsiteX0" fmla="*/ 17 w 21617"/>
              <a:gd name="connsiteY0" fmla="*/ 0 h 24569"/>
              <a:gd name="connsiteX1" fmla="*/ 21617 w 21617"/>
              <a:gd name="connsiteY1" fmla="*/ 0 h 24569"/>
              <a:gd name="connsiteX2" fmla="*/ 21617 w 21617"/>
              <a:gd name="connsiteY2" fmla="*/ 17322 h 24569"/>
              <a:gd name="connsiteX3" fmla="*/ 0 w 21617"/>
              <a:gd name="connsiteY3" fmla="*/ 22875 h 24569"/>
              <a:gd name="connsiteX4" fmla="*/ 17 w 21617"/>
              <a:gd name="connsiteY4" fmla="*/ 0 h 24569"/>
              <a:gd name="connsiteX0" fmla="*/ 17 w 21617"/>
              <a:gd name="connsiteY0" fmla="*/ 0 h 24698"/>
              <a:gd name="connsiteX1" fmla="*/ 21617 w 21617"/>
              <a:gd name="connsiteY1" fmla="*/ 0 h 24698"/>
              <a:gd name="connsiteX2" fmla="*/ 21617 w 21617"/>
              <a:gd name="connsiteY2" fmla="*/ 17322 h 24698"/>
              <a:gd name="connsiteX3" fmla="*/ 0 w 21617"/>
              <a:gd name="connsiteY3" fmla="*/ 22875 h 24698"/>
              <a:gd name="connsiteX4" fmla="*/ 17 w 21617"/>
              <a:gd name="connsiteY4" fmla="*/ 0 h 24698"/>
              <a:gd name="connsiteX0" fmla="*/ 17 w 21617"/>
              <a:gd name="connsiteY0" fmla="*/ 0 h 24785"/>
              <a:gd name="connsiteX1" fmla="*/ 21617 w 21617"/>
              <a:gd name="connsiteY1" fmla="*/ 0 h 24785"/>
              <a:gd name="connsiteX2" fmla="*/ 21617 w 21617"/>
              <a:gd name="connsiteY2" fmla="*/ 17322 h 24785"/>
              <a:gd name="connsiteX3" fmla="*/ 0 w 21617"/>
              <a:gd name="connsiteY3" fmla="*/ 22875 h 24785"/>
              <a:gd name="connsiteX4" fmla="*/ 17 w 21617"/>
              <a:gd name="connsiteY4" fmla="*/ 0 h 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17" h="24785">
                <a:moveTo>
                  <a:pt x="17" y="0"/>
                </a:moveTo>
                <a:lnTo>
                  <a:pt x="21617" y="0"/>
                </a:lnTo>
                <a:lnTo>
                  <a:pt x="21617" y="17322"/>
                </a:lnTo>
                <a:cubicBezTo>
                  <a:pt x="10919" y="19230"/>
                  <a:pt x="10221" y="28798"/>
                  <a:pt x="0" y="22875"/>
                </a:cubicBezTo>
                <a:cubicBezTo>
                  <a:pt x="6" y="15250"/>
                  <a:pt x="11" y="7625"/>
                  <a:pt x="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24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3">
            <a:extLst>
              <a:ext uri="{FF2B5EF4-FFF2-40B4-BE49-F238E27FC236}">
                <a16:creationId xmlns="" xmlns:a16="http://schemas.microsoft.com/office/drawing/2014/main" id="{7F75D8AF-79DE-4E2B-A15F-8EC66948BC31}"/>
              </a:ext>
            </a:extLst>
          </p:cNvPr>
          <p:cNvSpPr/>
          <p:nvPr userDrawn="1"/>
        </p:nvSpPr>
        <p:spPr>
          <a:xfrm flipH="1" flipV="1">
            <a:off x="114590" y="4581492"/>
            <a:ext cx="11962815" cy="2152681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17 w 21617"/>
              <a:gd name="connsiteY0" fmla="*/ 0 h 23765"/>
              <a:gd name="connsiteX1" fmla="*/ 21617 w 21617"/>
              <a:gd name="connsiteY1" fmla="*/ 0 h 23765"/>
              <a:gd name="connsiteX2" fmla="*/ 21617 w 21617"/>
              <a:gd name="connsiteY2" fmla="*/ 17322 h 23765"/>
              <a:gd name="connsiteX3" fmla="*/ 0 w 21617"/>
              <a:gd name="connsiteY3" fmla="*/ 22875 h 23765"/>
              <a:gd name="connsiteX4" fmla="*/ 17 w 21617"/>
              <a:gd name="connsiteY4" fmla="*/ 0 h 23765"/>
              <a:gd name="connsiteX0" fmla="*/ 17 w 21617"/>
              <a:gd name="connsiteY0" fmla="*/ 0 h 24368"/>
              <a:gd name="connsiteX1" fmla="*/ 21617 w 21617"/>
              <a:gd name="connsiteY1" fmla="*/ 0 h 24368"/>
              <a:gd name="connsiteX2" fmla="*/ 21617 w 21617"/>
              <a:gd name="connsiteY2" fmla="*/ 17322 h 24368"/>
              <a:gd name="connsiteX3" fmla="*/ 0 w 21617"/>
              <a:gd name="connsiteY3" fmla="*/ 22875 h 24368"/>
              <a:gd name="connsiteX4" fmla="*/ 17 w 21617"/>
              <a:gd name="connsiteY4" fmla="*/ 0 h 24368"/>
              <a:gd name="connsiteX0" fmla="*/ 17 w 21617"/>
              <a:gd name="connsiteY0" fmla="*/ 0 h 24514"/>
              <a:gd name="connsiteX1" fmla="*/ 21617 w 21617"/>
              <a:gd name="connsiteY1" fmla="*/ 0 h 24514"/>
              <a:gd name="connsiteX2" fmla="*/ 21617 w 21617"/>
              <a:gd name="connsiteY2" fmla="*/ 17322 h 24514"/>
              <a:gd name="connsiteX3" fmla="*/ 0 w 21617"/>
              <a:gd name="connsiteY3" fmla="*/ 22875 h 24514"/>
              <a:gd name="connsiteX4" fmla="*/ 17 w 21617"/>
              <a:gd name="connsiteY4" fmla="*/ 0 h 24514"/>
              <a:gd name="connsiteX0" fmla="*/ 17 w 21617"/>
              <a:gd name="connsiteY0" fmla="*/ 0 h 24569"/>
              <a:gd name="connsiteX1" fmla="*/ 21617 w 21617"/>
              <a:gd name="connsiteY1" fmla="*/ 0 h 24569"/>
              <a:gd name="connsiteX2" fmla="*/ 21617 w 21617"/>
              <a:gd name="connsiteY2" fmla="*/ 17322 h 24569"/>
              <a:gd name="connsiteX3" fmla="*/ 0 w 21617"/>
              <a:gd name="connsiteY3" fmla="*/ 22875 h 24569"/>
              <a:gd name="connsiteX4" fmla="*/ 17 w 21617"/>
              <a:gd name="connsiteY4" fmla="*/ 0 h 24569"/>
              <a:gd name="connsiteX0" fmla="*/ 17 w 21617"/>
              <a:gd name="connsiteY0" fmla="*/ 0 h 24698"/>
              <a:gd name="connsiteX1" fmla="*/ 21617 w 21617"/>
              <a:gd name="connsiteY1" fmla="*/ 0 h 24698"/>
              <a:gd name="connsiteX2" fmla="*/ 21617 w 21617"/>
              <a:gd name="connsiteY2" fmla="*/ 17322 h 24698"/>
              <a:gd name="connsiteX3" fmla="*/ 0 w 21617"/>
              <a:gd name="connsiteY3" fmla="*/ 22875 h 24698"/>
              <a:gd name="connsiteX4" fmla="*/ 17 w 21617"/>
              <a:gd name="connsiteY4" fmla="*/ 0 h 24698"/>
              <a:gd name="connsiteX0" fmla="*/ 17 w 21617"/>
              <a:gd name="connsiteY0" fmla="*/ 0 h 24785"/>
              <a:gd name="connsiteX1" fmla="*/ 21617 w 21617"/>
              <a:gd name="connsiteY1" fmla="*/ 0 h 24785"/>
              <a:gd name="connsiteX2" fmla="*/ 21617 w 21617"/>
              <a:gd name="connsiteY2" fmla="*/ 17322 h 24785"/>
              <a:gd name="connsiteX3" fmla="*/ 0 w 21617"/>
              <a:gd name="connsiteY3" fmla="*/ 22875 h 24785"/>
              <a:gd name="connsiteX4" fmla="*/ 17 w 21617"/>
              <a:gd name="connsiteY4" fmla="*/ 0 h 24785"/>
              <a:gd name="connsiteX0" fmla="*/ 34 w 21634"/>
              <a:gd name="connsiteY0" fmla="*/ 0 h 36778"/>
              <a:gd name="connsiteX1" fmla="*/ 21634 w 21634"/>
              <a:gd name="connsiteY1" fmla="*/ 0 h 36778"/>
              <a:gd name="connsiteX2" fmla="*/ 21634 w 21634"/>
              <a:gd name="connsiteY2" fmla="*/ 17322 h 36778"/>
              <a:gd name="connsiteX3" fmla="*/ 0 w 21634"/>
              <a:gd name="connsiteY3" fmla="*/ 35787 h 36778"/>
              <a:gd name="connsiteX4" fmla="*/ 34 w 21634"/>
              <a:gd name="connsiteY4" fmla="*/ 0 h 36778"/>
              <a:gd name="connsiteX0" fmla="*/ 34 w 21634"/>
              <a:gd name="connsiteY0" fmla="*/ 0 h 41874"/>
              <a:gd name="connsiteX1" fmla="*/ 21634 w 21634"/>
              <a:gd name="connsiteY1" fmla="*/ 0 h 41874"/>
              <a:gd name="connsiteX2" fmla="*/ 21634 w 21634"/>
              <a:gd name="connsiteY2" fmla="*/ 17322 h 41874"/>
              <a:gd name="connsiteX3" fmla="*/ 0 w 21634"/>
              <a:gd name="connsiteY3" fmla="*/ 35787 h 41874"/>
              <a:gd name="connsiteX4" fmla="*/ 34 w 21634"/>
              <a:gd name="connsiteY4" fmla="*/ 0 h 41874"/>
              <a:gd name="connsiteX0" fmla="*/ 34 w 21634"/>
              <a:gd name="connsiteY0" fmla="*/ 0 h 42123"/>
              <a:gd name="connsiteX1" fmla="*/ 21634 w 21634"/>
              <a:gd name="connsiteY1" fmla="*/ 0 h 42123"/>
              <a:gd name="connsiteX2" fmla="*/ 21634 w 21634"/>
              <a:gd name="connsiteY2" fmla="*/ 17322 h 42123"/>
              <a:gd name="connsiteX3" fmla="*/ 0 w 21634"/>
              <a:gd name="connsiteY3" fmla="*/ 35787 h 42123"/>
              <a:gd name="connsiteX4" fmla="*/ 34 w 21634"/>
              <a:gd name="connsiteY4" fmla="*/ 0 h 4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4" h="42123">
                <a:moveTo>
                  <a:pt x="34" y="0"/>
                </a:moveTo>
                <a:lnTo>
                  <a:pt x="21634" y="0"/>
                </a:lnTo>
                <a:lnTo>
                  <a:pt x="21634" y="17322"/>
                </a:lnTo>
                <a:cubicBezTo>
                  <a:pt x="10970" y="21444"/>
                  <a:pt x="9198" y="56098"/>
                  <a:pt x="0" y="35787"/>
                </a:cubicBezTo>
                <a:cubicBezTo>
                  <a:pt x="6" y="28162"/>
                  <a:pt x="28" y="7625"/>
                  <a:pt x="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1611383"/>
            <a:ext cx="9666514" cy="746846"/>
          </a:xfrm>
        </p:spPr>
        <p:txBody>
          <a:bodyPr anchor="t">
            <a:noAutofit/>
          </a:bodyPr>
          <a:lstStyle>
            <a:lvl1pPr>
              <a:defRPr sz="4800" spc="-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Section Header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2464424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60C8850-C2CD-4E0B-AA6F-6B884EB94B4B}"/>
              </a:ext>
            </a:extLst>
          </p:cNvPr>
          <p:cNvSpPr/>
          <p:nvPr userDrawn="1"/>
        </p:nvSpPr>
        <p:spPr>
          <a:xfrm>
            <a:off x="435429" y="1532049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80D3D7B7-CDD7-4664-B2D8-6F60FEAEAC45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9E81145E-5F17-4CB6-9E17-ECF3BB38DE75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tx1"/>
                </a:solidFill>
              </a:rPr>
              <a:pPr/>
              <a:t>‹#›</a:t>
            </a:fld>
            <a:endParaRPr lang="en-US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219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=""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758E3AAF-44AA-41E0-AE18-8B461598AD0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314" y="1825625"/>
            <a:ext cx="530678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="" xmlns:a16="http://schemas.microsoft.com/office/drawing/2014/main" id="{FC1B8B60-5429-4EF9-93D0-2CCCF562B91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389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700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=""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4043"/>
            <a:ext cx="3932237" cy="108952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9B6692B7-0F8A-4381-96B4-5F358BFD1E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B43535EE-90E2-422C-B7AC-4D346E8D6E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500215"/>
            <a:ext cx="6172200" cy="53687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6424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=""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4043"/>
            <a:ext cx="3932237" cy="108952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9B6692B7-0F8A-4381-96B4-5F358BFD1E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="" xmlns:a16="http://schemas.microsoft.com/office/drawing/2014/main" id="{131CB29F-0BE0-476F-B57A-7638E9BFA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00215"/>
            <a:ext cx="6172200" cy="5368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0996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432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4E46C0F6-F728-4FF0-A7F3-F6AECCD35B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650" y="136525"/>
            <a:ext cx="11950700" cy="6584951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E4DAD220-8CE3-4FF4-957A-1E24442C6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7500" y="4022725"/>
            <a:ext cx="10033000" cy="1236236"/>
          </a:xfrm>
          <a:solidFill>
            <a:schemeClr val="tx1">
              <a:alpha val="68000"/>
            </a:schemeClr>
          </a:solidFill>
        </p:spPr>
        <p:txBody>
          <a:bodyPr lIns="274320" tIns="274320" rIns="274320" bIns="274320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  <a:p>
            <a:pPr lvl="0"/>
            <a:endParaRPr lang="en-US" noProof="0"/>
          </a:p>
        </p:txBody>
      </p:sp>
      <p:sp>
        <p:nvSpPr>
          <p:cNvPr id="8" name="Text Placeholder 6">
            <a:extLst>
              <a:ext uri="{FF2B5EF4-FFF2-40B4-BE49-F238E27FC236}">
                <a16:creationId xmlns="" xmlns:a16="http://schemas.microsoft.com/office/drawing/2014/main" id="{58FDDD78-44AA-4B92-90B8-DFC56D688C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550" y="3269342"/>
            <a:ext cx="1155366" cy="2576090"/>
          </a:xfrm>
          <a:noFill/>
        </p:spPr>
        <p:txBody>
          <a:bodyPr wrap="square" lIns="182880" tIns="182880" rIns="182880" bIns="91440">
            <a:spAutoFit/>
          </a:bodyPr>
          <a:lstStyle>
            <a:lvl1pPr marL="0" indent="0">
              <a:buNone/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9" name="Frame 8">
            <a:extLst>
              <a:ext uri="{FF2B5EF4-FFF2-40B4-BE49-F238E27FC236}">
                <a16:creationId xmlns="" xmlns:a16="http://schemas.microsoft.com/office/drawing/2014/main" id="{0283712C-6C33-4303-985C-6493AAFAF40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793B617-BDEC-4471-BF16-3ADF8D92DD69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33D238BD-C38B-4BEB-92A5-657AAB9C5351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E81040-AE93-4763-96F3-062F0F2D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01439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="" xmlns:a16="http://schemas.microsoft.com/office/drawing/2014/main" id="{7C719AD2-39D2-425C-90E5-8FD2D783AD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4907643" cy="701731"/>
          </a:xfrm>
        </p:spPr>
        <p:txBody>
          <a:bodyPr vert="horz" wrap="square" lIns="91440" tIns="45720" rIns="91440" bIns="45720" rtlCol="0" anchor="b">
            <a:spAutoFit/>
          </a:bodyPr>
          <a:lstStyle>
            <a:lvl1pPr>
              <a:defRPr lang="en-GB" sz="4400" b="1" spc="-15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419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FE1B3994-EC85-4CEE-B849-7AE33810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E88709A-CA63-4EAC-968C-8873D088E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4" y="1253331"/>
            <a:ext cx="11174186" cy="4770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BBA3C17-8AAC-4933-A7DA-CD7D3F840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2B1D122-60D0-8B4D-896A-2A770C0B6343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6B5B9FA1-1805-A944-AC99-868579EBA1AD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57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61" r:id="rId4"/>
    <p:sldLayoutId id="2147483662" r:id="rId5"/>
    <p:sldLayoutId id="2147483650" r:id="rId6"/>
    <p:sldLayoutId id="2147483668" r:id="rId7"/>
    <p:sldLayoutId id="2147483674" r:id="rId8"/>
    <p:sldLayoutId id="2147483666" r:id="rId9"/>
    <p:sldLayoutId id="2147483664" r:id="rId10"/>
    <p:sldLayoutId id="2147483663" r:id="rId11"/>
    <p:sldLayoutId id="2147483667" r:id="rId12"/>
    <p:sldLayoutId id="2147483671" r:id="rId13"/>
    <p:sldLayoutId id="2147483672" r:id="rId14"/>
    <p:sldLayoutId id="2147483673" r:id="rId15"/>
    <p:sldLayoutId id="2147483675" r:id="rId16"/>
    <p:sldLayoutId id="2147483676" r:id="rId17"/>
    <p:sldLayoutId id="2147483665" r:id="rId18"/>
    <p:sldLayoutId id="2147483669" r:id="rId19"/>
    <p:sldLayoutId id="214748367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600" b="1" kern="1200" spc="-6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60" userDrawn="1">
          <p15:clr>
            <a:srgbClr val="F26B43"/>
          </p15:clr>
        </p15:guide>
        <p15:guide id="4" pos="7320" userDrawn="1">
          <p15:clr>
            <a:srgbClr val="F26B43"/>
          </p15:clr>
        </p15:guide>
        <p15:guide id="5" orient="horz" pos="360" userDrawn="1">
          <p15:clr>
            <a:srgbClr val="F26B43"/>
          </p15:clr>
        </p15:guide>
        <p15:guide id="6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="" xmlns:a16="http://schemas.microsoft.com/office/drawing/2014/main" id="{1BF8833C-D907-D24E-949C-65190DF629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9012"/>
            <a:ext cx="12192000" cy="5603181"/>
          </a:xfrm>
        </p:spPr>
      </p:pic>
      <p:sp>
        <p:nvSpPr>
          <p:cNvPr id="51" name="Title 50">
            <a:extLst>
              <a:ext uri="{FF2B5EF4-FFF2-40B4-BE49-F238E27FC236}">
                <a16:creationId xmlns="" xmlns:a16="http://schemas.microsoft.com/office/drawing/2014/main" id="{D8694222-4D81-4A9A-93A2-23C89102F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871" y="5155249"/>
            <a:ext cx="10607040" cy="646331"/>
          </a:xfrm>
        </p:spPr>
        <p:txBody>
          <a:bodyPr/>
          <a:lstStyle/>
          <a:p>
            <a:r>
              <a:rPr lang="en-US" sz="4000" dirty="0" err="1" smtClean="0"/>
              <a:t>SmartGuard</a:t>
            </a:r>
            <a:r>
              <a:rPr lang="en-US" sz="4000" dirty="0" smtClean="0"/>
              <a:t> Project</a:t>
            </a:r>
            <a:endParaRPr lang="en-US" sz="4000" dirty="0"/>
          </a:p>
        </p:txBody>
      </p:sp>
      <p:sp>
        <p:nvSpPr>
          <p:cNvPr id="52" name="Subtitle 51">
            <a:extLst>
              <a:ext uri="{FF2B5EF4-FFF2-40B4-BE49-F238E27FC236}">
                <a16:creationId xmlns="" xmlns:a16="http://schemas.microsoft.com/office/drawing/2014/main" id="{46FF1827-B46B-4BC4-8665-8914CF45DE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871" y="5801580"/>
            <a:ext cx="9144000" cy="341632"/>
          </a:xfrm>
        </p:spPr>
        <p:txBody>
          <a:bodyPr/>
          <a:lstStyle/>
          <a:p>
            <a:r>
              <a:rPr lang="en-US" dirty="0" smtClean="0"/>
              <a:t>Presentation II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7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31D4E439-7AFE-41C2-9561-67F5879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875543"/>
            <a:ext cx="9666514" cy="746846"/>
          </a:xfrm>
        </p:spPr>
        <p:txBody>
          <a:bodyPr/>
          <a:lstStyle/>
          <a:p>
            <a:r>
              <a:rPr lang="en-US" dirty="0" smtClean="0"/>
              <a:t>1. Research Papers</a:t>
            </a:r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="" xmlns:a16="http://schemas.microsoft.com/office/drawing/2014/main" id="{E8D5AD70-28A1-4A01-AE97-1F4CBFF49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64424"/>
            <a:ext cx="12192000" cy="4396555"/>
          </a:xfrm>
        </p:spPr>
      </p:pic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EB8303B-9502-480C-9C51-6EF9094D5E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="" xmlns:a16="http://schemas.microsoft.com/office/drawing/2014/main" id="{3A910B8A-C82A-4E81-9270-CD27D2778597}"/>
              </a:ext>
            </a:extLst>
          </p:cNvPr>
          <p:cNvSpPr txBox="1">
            <a:spLocks/>
          </p:cNvSpPr>
          <p:nvPr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08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850503549"/>
              </p:ext>
            </p:extLst>
          </p:nvPr>
        </p:nvGraphicFramePr>
        <p:xfrm>
          <a:off x="446314" y="1325881"/>
          <a:ext cx="11174186" cy="5020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14E52"/>
                </a:solidFill>
              </a:rPr>
              <a:t>User profiling Papers</a:t>
            </a:r>
            <a:endParaRPr lang="en-US" dirty="0">
              <a:solidFill>
                <a:srgbClr val="014E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0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14E52"/>
                </a:solidFill>
              </a:rPr>
              <a:t>Profiling Types</a:t>
            </a:r>
            <a:endParaRPr lang="en-US" dirty="0">
              <a:solidFill>
                <a:srgbClr val="014E5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067F9C"/>
                </a:solidFill>
              </a:rPr>
              <a:t>Dynamic User Profiling</a:t>
            </a:r>
            <a:endParaRPr lang="en-US" sz="2400" dirty="0">
              <a:solidFill>
                <a:srgbClr val="067F9C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438898" y="2149311"/>
            <a:ext cx="5439158" cy="21024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Updating user profiles based on:</a:t>
            </a:r>
          </a:p>
          <a:p>
            <a:pPr marL="800100" lvl="1" indent="-342900">
              <a:buAutoNum type="arabicParenR"/>
            </a:pPr>
            <a:r>
              <a:rPr lang="en-US" sz="2000" dirty="0" smtClean="0">
                <a:solidFill>
                  <a:srgbClr val="067F9C"/>
                </a:solidFill>
              </a:rPr>
              <a:t>Performance       2)  Usage </a:t>
            </a:r>
            <a:r>
              <a:rPr lang="en-US" sz="2000" dirty="0">
                <a:solidFill>
                  <a:srgbClr val="067F9C"/>
                </a:solidFill>
              </a:rPr>
              <a:t>History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067F9C"/>
                </a:solidFill>
              </a:rPr>
              <a:t>3)  Interactions         4)  Feedback</a:t>
            </a:r>
          </a:p>
          <a:p>
            <a:r>
              <a:rPr lang="en-US" sz="2000" dirty="0" smtClean="0"/>
              <a:t>Updates over time to capture the learner’s changing interests and abilities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067F9C"/>
                </a:solidFill>
              </a:rPr>
              <a:t>Static User Profiling</a:t>
            </a:r>
            <a:endParaRPr lang="en-US" sz="2400" dirty="0">
              <a:solidFill>
                <a:srgbClr val="067F9C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6314" y="2149311"/>
            <a:ext cx="5306789" cy="21024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Initially creating user profiles based on:</a:t>
            </a:r>
          </a:p>
          <a:p>
            <a:pPr marL="800100" lvl="1" indent="-342900">
              <a:buAutoNum type="arabicParenR"/>
            </a:pPr>
            <a:r>
              <a:rPr lang="en-US" sz="2000" dirty="0">
                <a:solidFill>
                  <a:srgbClr val="067F9C"/>
                </a:solidFill>
              </a:rPr>
              <a:t>User-Input Data</a:t>
            </a:r>
          </a:p>
          <a:p>
            <a:pPr marL="800100" lvl="1" indent="-342900">
              <a:buAutoNum type="arabicParenR"/>
            </a:pPr>
            <a:r>
              <a:rPr lang="en-US" sz="2000" dirty="0">
                <a:solidFill>
                  <a:srgbClr val="067F9C"/>
                </a:solidFill>
              </a:rPr>
              <a:t>Initial </a:t>
            </a:r>
            <a:r>
              <a:rPr lang="en-US" sz="2000" dirty="0" smtClean="0">
                <a:solidFill>
                  <a:srgbClr val="067F9C"/>
                </a:solidFill>
              </a:rPr>
              <a:t>Assessment</a:t>
            </a:r>
            <a:endParaRPr lang="en-US" sz="2000" dirty="0">
              <a:solidFill>
                <a:srgbClr val="067F9C"/>
              </a:solidFill>
            </a:endParaRPr>
          </a:p>
          <a:p>
            <a:r>
              <a:rPr lang="en-US" sz="2000" dirty="0" smtClean="0"/>
              <a:t>Is a fixed snapshot of the learner that does not change automatically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250" t="47333" r="28450" b="36400"/>
          <a:stretch/>
        </p:blipFill>
        <p:spPr>
          <a:xfrm>
            <a:off x="3705442" y="4251784"/>
            <a:ext cx="4655929" cy="882024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941064" y="4992624"/>
            <a:ext cx="548640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204461" y="4992624"/>
            <a:ext cx="548640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559040" y="4992624"/>
            <a:ext cx="548640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/>
          <p:nvPr/>
        </p:nvCxnSpPr>
        <p:spPr>
          <a:xfrm rot="10800000" flipV="1">
            <a:off x="3419856" y="4992624"/>
            <a:ext cx="795530" cy="340146"/>
          </a:xfrm>
          <a:prstGeom prst="curvedConnector3">
            <a:avLst/>
          </a:prstGeom>
          <a:ln w="28575">
            <a:solidFill>
              <a:srgbClr val="01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478781" y="4992624"/>
            <a:ext cx="0" cy="630936"/>
          </a:xfrm>
          <a:prstGeom prst="straightConnector1">
            <a:avLst/>
          </a:prstGeom>
          <a:ln w="28575">
            <a:solidFill>
              <a:srgbClr val="01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/>
          <p:nvPr/>
        </p:nvCxnSpPr>
        <p:spPr>
          <a:xfrm>
            <a:off x="7833360" y="4992624"/>
            <a:ext cx="771144" cy="340147"/>
          </a:xfrm>
          <a:prstGeom prst="curvedConnector3">
            <a:avLst/>
          </a:prstGeom>
          <a:ln w="28575">
            <a:solidFill>
              <a:srgbClr val="01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450629" y="5133808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New user profile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527802" y="5548799"/>
            <a:ext cx="1911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Old user profile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703183" y="5133808"/>
            <a:ext cx="3076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Running content context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44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14E52"/>
                </a:solidFill>
              </a:rPr>
              <a:t>Profiling Types</a:t>
            </a:r>
            <a:endParaRPr lang="en-US" dirty="0">
              <a:solidFill>
                <a:srgbClr val="014E5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067F9C"/>
                </a:solidFill>
              </a:rPr>
              <a:t>Dynamic user Profiling</a:t>
            </a:r>
            <a:endParaRPr lang="en-US" sz="2400" dirty="0">
              <a:solidFill>
                <a:srgbClr val="067F9C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6438898" y="2149311"/>
            <a:ext cx="5439158" cy="21024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Updating user profiles based on:</a:t>
            </a:r>
          </a:p>
          <a:p>
            <a:pPr marL="800100" lvl="1" indent="-342900">
              <a:buAutoNum type="arabicParenR"/>
            </a:pPr>
            <a:r>
              <a:rPr lang="en-US" sz="2000" dirty="0" smtClean="0">
                <a:solidFill>
                  <a:srgbClr val="067F9C"/>
                </a:solidFill>
              </a:rPr>
              <a:t>Performance       2)  Usage </a:t>
            </a:r>
            <a:r>
              <a:rPr lang="en-US" sz="2000" dirty="0">
                <a:solidFill>
                  <a:srgbClr val="067F9C"/>
                </a:solidFill>
              </a:rPr>
              <a:t>History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067F9C"/>
                </a:solidFill>
              </a:rPr>
              <a:t>3)  Interactions         4)  Feedback</a:t>
            </a:r>
          </a:p>
          <a:p>
            <a:r>
              <a:rPr lang="en-US" sz="2000" dirty="0" smtClean="0"/>
              <a:t>Updates over time to capture the learner’s changing interests and abilities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067F9C"/>
                </a:solidFill>
              </a:rPr>
              <a:t>Static User Profiling</a:t>
            </a:r>
            <a:endParaRPr lang="en-US" sz="2400" dirty="0">
              <a:solidFill>
                <a:srgbClr val="067F9C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46314" y="2149311"/>
            <a:ext cx="5306789" cy="2102473"/>
          </a:xfrm>
        </p:spPr>
        <p:txBody>
          <a:bodyPr>
            <a:normAutofit/>
          </a:bodyPr>
          <a:lstStyle/>
          <a:p>
            <a:r>
              <a:rPr lang="en-US" sz="2000" dirty="0" smtClean="0"/>
              <a:t>Initially creating user profiles based on:</a:t>
            </a:r>
          </a:p>
          <a:p>
            <a:pPr marL="800100" lvl="1" indent="-342900">
              <a:buAutoNum type="arabicParenR"/>
            </a:pPr>
            <a:r>
              <a:rPr lang="en-US" sz="2000" dirty="0">
                <a:solidFill>
                  <a:srgbClr val="067F9C"/>
                </a:solidFill>
              </a:rPr>
              <a:t>User-Input Data</a:t>
            </a:r>
          </a:p>
          <a:p>
            <a:pPr marL="800100" lvl="1" indent="-342900">
              <a:buAutoNum type="arabicParenR"/>
            </a:pPr>
            <a:r>
              <a:rPr lang="en-US" sz="2000" dirty="0">
                <a:solidFill>
                  <a:srgbClr val="067F9C"/>
                </a:solidFill>
              </a:rPr>
              <a:t>Initial </a:t>
            </a:r>
            <a:r>
              <a:rPr lang="en-US" sz="2000" dirty="0" smtClean="0">
                <a:solidFill>
                  <a:srgbClr val="067F9C"/>
                </a:solidFill>
              </a:rPr>
              <a:t>Assessment</a:t>
            </a:r>
            <a:endParaRPr lang="en-US" sz="2000" dirty="0">
              <a:solidFill>
                <a:srgbClr val="067F9C"/>
              </a:solidFill>
            </a:endParaRPr>
          </a:p>
          <a:p>
            <a:r>
              <a:rPr lang="en-US" sz="2000" dirty="0" smtClean="0"/>
              <a:t>Is a fixed snapshot of the learner that does not change automatically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l="23250" t="47333" r="28450" b="36400"/>
          <a:stretch/>
        </p:blipFill>
        <p:spPr>
          <a:xfrm>
            <a:off x="3705442" y="4251784"/>
            <a:ext cx="4655929" cy="882024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5038344" y="4937760"/>
            <a:ext cx="228600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7165848" y="4937760"/>
            <a:ext cx="228600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>
            <a:off x="6643116" y="4960620"/>
            <a:ext cx="649224" cy="603504"/>
          </a:xfrm>
          <a:prstGeom prst="bentConnector3">
            <a:avLst/>
          </a:prstGeom>
          <a:ln w="28575">
            <a:solidFill>
              <a:srgbClr val="014E5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5152644" y="5253228"/>
            <a:ext cx="1513332" cy="0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152644" y="4937760"/>
            <a:ext cx="0" cy="324612"/>
          </a:xfrm>
          <a:prstGeom prst="line">
            <a:avLst/>
          </a:prstGeom>
          <a:ln w="28575">
            <a:solidFill>
              <a:srgbClr val="014E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00784" y="5586984"/>
            <a:ext cx="9919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 constant that ranges from 1 </a:t>
            </a:r>
            <a:r>
              <a:rPr lang="en-US" dirty="0" smtClean="0">
                <a:solidFill>
                  <a:srgbClr val="067F9C"/>
                </a:solidFill>
              </a:rPr>
              <a:t>(no context) </a:t>
            </a:r>
            <a:r>
              <a:rPr lang="en-US" dirty="0" smtClean="0"/>
              <a:t>to 0 </a:t>
            </a:r>
            <a:r>
              <a:rPr lang="en-US" dirty="0" smtClean="0">
                <a:solidFill>
                  <a:srgbClr val="067F9C"/>
                </a:solidFill>
              </a:rPr>
              <a:t>(old profile is no longer relevant)</a:t>
            </a:r>
          </a:p>
          <a:p>
            <a:pPr algn="ctr"/>
            <a:r>
              <a:rPr lang="en-US" dirty="0" smtClean="0">
                <a:solidFill>
                  <a:srgbClr val="79AE02"/>
                </a:solidFill>
              </a:rPr>
              <a:t>Assuming that: </a:t>
            </a:r>
            <a:r>
              <a:rPr lang="en-US" dirty="0" smtClean="0"/>
              <a:t>Old interests fade unless they are renewed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9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3+ Thousand Multiple Profiles Royalty-Free Images, Stock Photos &amp; Pictures  |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14"/>
          <a:stretch/>
        </p:blipFill>
        <p:spPr bwMode="auto">
          <a:xfrm>
            <a:off x="0" y="3008375"/>
            <a:ext cx="12192000" cy="384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31D4E439-7AFE-41C2-9561-67F5879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06" y="1834903"/>
            <a:ext cx="9666514" cy="746846"/>
          </a:xfrm>
        </p:spPr>
        <p:txBody>
          <a:bodyPr/>
          <a:lstStyle/>
          <a:p>
            <a:r>
              <a:rPr lang="en-US" dirty="0" smtClean="0"/>
              <a:t>2. Database Sche</a:t>
            </a:r>
            <a:r>
              <a:rPr lang="en-US" dirty="0" smtClean="0"/>
              <a:t>ma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4EB8303B-9502-480C-9C51-6EF9094D5E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="" xmlns:a16="http://schemas.microsoft.com/office/drawing/2014/main" id="{3A910B8A-C82A-4E81-9270-CD27D2778597}"/>
              </a:ext>
            </a:extLst>
          </p:cNvPr>
          <p:cNvSpPr txBox="1">
            <a:spLocks/>
          </p:cNvSpPr>
          <p:nvPr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26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68" t="5334" r="46832" b="13482"/>
          <a:stretch/>
        </p:blipFill>
        <p:spPr>
          <a:xfrm>
            <a:off x="6288657" y="290881"/>
            <a:ext cx="4975860" cy="640087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A) Student Profiles 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463040"/>
            <a:ext cx="4824425" cy="4770098"/>
          </a:xfrm>
        </p:spPr>
        <p:txBody>
          <a:bodyPr/>
          <a:lstStyle/>
          <a:p>
            <a:r>
              <a:rPr lang="en-US" dirty="0" smtClean="0"/>
              <a:t>System generates an ID for each user (</a:t>
            </a:r>
            <a:r>
              <a:rPr lang="en-US" dirty="0" err="1" smtClean="0">
                <a:solidFill>
                  <a:srgbClr val="79AE02"/>
                </a:solidFill>
              </a:rPr>
              <a:t>ObjectID</a:t>
            </a:r>
            <a:r>
              <a:rPr lang="en-US" dirty="0" smtClean="0"/>
              <a:t>)</a:t>
            </a:r>
          </a:p>
          <a:p>
            <a:r>
              <a:rPr lang="en-US" dirty="0" smtClean="0"/>
              <a:t>Users input their personal information: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Age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Grade Level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Preferred Language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Username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Email</a:t>
            </a:r>
          </a:p>
          <a:p>
            <a:pPr lvl="1">
              <a:buFontTx/>
              <a:buChar char="-"/>
            </a:pPr>
            <a:r>
              <a:rPr lang="en-US" dirty="0" smtClean="0">
                <a:solidFill>
                  <a:srgbClr val="1DA9BF"/>
                </a:solidFill>
              </a:rPr>
              <a:t>Password (which the system stores as a hashed code)</a:t>
            </a:r>
            <a:endParaRPr lang="en-US" dirty="0">
              <a:solidFill>
                <a:srgbClr val="1DA9BF"/>
              </a:solidFill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1DA9BF"/>
                </a:solidFill>
              </a:rPr>
              <a:t>-  Context (region &amp; school type)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8657" y="405441"/>
            <a:ext cx="3743864" cy="968208"/>
          </a:xfrm>
          <a:prstGeom prst="rect">
            <a:avLst/>
          </a:prstGeom>
          <a:noFill/>
          <a:ln w="38100">
            <a:solidFill>
              <a:srgbClr val="067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88657" y="3363985"/>
            <a:ext cx="3743864" cy="543781"/>
          </a:xfrm>
          <a:prstGeom prst="rect">
            <a:avLst/>
          </a:prstGeom>
          <a:noFill/>
          <a:ln w="38100">
            <a:solidFill>
              <a:srgbClr val="067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479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68" t="5334" r="46832" b="13482"/>
          <a:stretch/>
        </p:blipFill>
        <p:spPr>
          <a:xfrm>
            <a:off x="6288657" y="290881"/>
            <a:ext cx="4975860" cy="640087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A) Student Profiles 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463040"/>
            <a:ext cx="4824425" cy="4770098"/>
          </a:xfrm>
        </p:spPr>
        <p:txBody>
          <a:bodyPr/>
          <a:lstStyle/>
          <a:p>
            <a:r>
              <a:rPr lang="en-US" dirty="0" smtClean="0"/>
              <a:t>Users choose their preferred </a:t>
            </a:r>
            <a:r>
              <a:rPr lang="en-US" dirty="0" smtClean="0">
                <a:solidFill>
                  <a:srgbClr val="79AE02"/>
                </a:solidFill>
              </a:rPr>
              <a:t>learning style</a:t>
            </a:r>
            <a:r>
              <a:rPr lang="en-US" dirty="0" smtClean="0"/>
              <a:t> from:</a:t>
            </a:r>
          </a:p>
          <a:p>
            <a:pPr lvl="1">
              <a:buFontTx/>
              <a:buChar char="-"/>
            </a:pPr>
            <a:r>
              <a:rPr lang="en-US" dirty="0" smtClean="0"/>
              <a:t>Visual </a:t>
            </a:r>
            <a:r>
              <a:rPr lang="en-US" dirty="0"/>
              <a:t>Resources</a:t>
            </a:r>
          </a:p>
          <a:p>
            <a:pPr lvl="1">
              <a:buFontTx/>
              <a:buChar char="-"/>
            </a:pPr>
            <a:r>
              <a:rPr lang="en-US" dirty="0"/>
              <a:t>Auditory Resources</a:t>
            </a:r>
          </a:p>
          <a:p>
            <a:pPr lvl="1">
              <a:buFontTx/>
              <a:buChar char="-"/>
            </a:pPr>
            <a:r>
              <a:rPr lang="en-US" dirty="0"/>
              <a:t>Reading/Writing</a:t>
            </a:r>
          </a:p>
          <a:p>
            <a:pPr lvl="1">
              <a:buFontTx/>
              <a:buChar char="-"/>
            </a:pPr>
            <a:r>
              <a:rPr lang="en-US" dirty="0"/>
              <a:t>Kinesthetic </a:t>
            </a:r>
            <a:r>
              <a:rPr lang="en-US" dirty="0">
                <a:solidFill>
                  <a:srgbClr val="067F9C"/>
                </a:solidFill>
              </a:rPr>
              <a:t>(by touching materials</a:t>
            </a:r>
            <a:r>
              <a:rPr lang="en-US" dirty="0" smtClean="0">
                <a:solidFill>
                  <a:srgbClr val="067F9C"/>
                </a:solidFill>
              </a:rPr>
              <a:t>)</a:t>
            </a:r>
          </a:p>
          <a:p>
            <a:r>
              <a:rPr lang="en-US" dirty="0" smtClean="0"/>
              <a:t>They can also indicate whether they have any </a:t>
            </a:r>
            <a:r>
              <a:rPr lang="en-US" dirty="0" smtClean="0">
                <a:solidFill>
                  <a:srgbClr val="79AE02"/>
                </a:solidFill>
              </a:rPr>
              <a:t>accessibility issues </a:t>
            </a:r>
            <a:r>
              <a:rPr lang="en-US" dirty="0" smtClean="0"/>
              <a:t>either:</a:t>
            </a:r>
          </a:p>
          <a:p>
            <a:pPr marL="0" indent="0">
              <a:buNone/>
            </a:pPr>
            <a:r>
              <a:rPr lang="en-US" dirty="0" smtClean="0"/>
              <a:t>        -  Sensory limitations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-  Neurodiversity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8657" y="1380229"/>
            <a:ext cx="3743864" cy="1216321"/>
          </a:xfrm>
          <a:prstGeom prst="rect">
            <a:avLst/>
          </a:prstGeom>
          <a:noFill/>
          <a:ln w="38100">
            <a:solidFill>
              <a:srgbClr val="067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87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68" t="5334" r="46832" b="13482"/>
          <a:stretch/>
        </p:blipFill>
        <p:spPr>
          <a:xfrm>
            <a:off x="6288657" y="290881"/>
            <a:ext cx="4975860" cy="640087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A) Student Profiles 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463040"/>
            <a:ext cx="4824425" cy="4770098"/>
          </a:xfrm>
        </p:spPr>
        <p:txBody>
          <a:bodyPr/>
          <a:lstStyle/>
          <a:p>
            <a:r>
              <a:rPr lang="en-US" dirty="0" smtClean="0"/>
              <a:t>Users input their interests and how much they rate their interest level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79AE02"/>
                </a:solidFill>
              </a:rPr>
              <a:t>score</a:t>
            </a:r>
            <a:r>
              <a:rPr lang="en-US" dirty="0" smtClean="0"/>
              <a:t> is calculated from both:</a:t>
            </a:r>
          </a:p>
          <a:p>
            <a:pPr marL="800100" lvl="1" indent="-342900">
              <a:buAutoNum type="arabicParenR"/>
            </a:pPr>
            <a:r>
              <a:rPr lang="en-US" dirty="0" smtClean="0"/>
              <a:t>The user’s input</a:t>
            </a:r>
            <a:endParaRPr lang="en-US" dirty="0"/>
          </a:p>
          <a:p>
            <a:pPr marL="800100" lvl="1" indent="-342900">
              <a:buAutoNum type="arabicParenR"/>
            </a:pPr>
            <a:r>
              <a:rPr lang="en-US" dirty="0" smtClean="0"/>
              <a:t>A time decay function </a:t>
            </a:r>
            <a:r>
              <a:rPr lang="en-US" dirty="0" smtClean="0">
                <a:solidFill>
                  <a:srgbClr val="1DA9BF"/>
                </a:solidFill>
              </a:rPr>
              <a:t>(to favor newer interests over much older ones)</a:t>
            </a:r>
          </a:p>
          <a:p>
            <a:pPr marL="800100" lvl="1" indent="-342900">
              <a:buAutoNum type="arabicParenR"/>
            </a:pPr>
            <a:endParaRPr lang="en-US" dirty="0"/>
          </a:p>
          <a:p>
            <a:pPr marL="800100" lvl="1" indent="-342900">
              <a:buAutoNum type="arabicParenR"/>
            </a:pPr>
            <a:endParaRPr lang="en-US" dirty="0" smtClean="0"/>
          </a:p>
          <a:p>
            <a:pPr marL="800100" lvl="1" indent="-342900">
              <a:buAutoNum type="arabicParenR"/>
            </a:pPr>
            <a:endParaRPr lang="en-US" dirty="0"/>
          </a:p>
          <a:p>
            <a:pPr marL="800100" lvl="1" indent="-342900">
              <a:buAutoNum type="arabicParenR"/>
            </a:pPr>
            <a:endParaRPr lang="en-US" dirty="0" smtClean="0"/>
          </a:p>
          <a:p>
            <a:pPr marL="457200" lvl="1" indent="0">
              <a:buNone/>
            </a:pPr>
            <a:r>
              <a:rPr lang="en-US" dirty="0" smtClean="0"/>
              <a:t>from users’ feedback after completion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88657" y="2597265"/>
            <a:ext cx="3743864" cy="767038"/>
          </a:xfrm>
          <a:prstGeom prst="rect">
            <a:avLst/>
          </a:prstGeom>
          <a:noFill/>
          <a:ln w="38100">
            <a:solidFill>
              <a:srgbClr val="067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703" t="31322" r="32076" b="33962"/>
          <a:stretch/>
        </p:blipFill>
        <p:spPr>
          <a:xfrm>
            <a:off x="700793" y="3878853"/>
            <a:ext cx="4315467" cy="1905711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2130725" y="5252778"/>
            <a:ext cx="250166" cy="483788"/>
          </a:xfrm>
          <a:custGeom>
            <a:avLst/>
            <a:gdLst>
              <a:gd name="connsiteX0" fmla="*/ 250166 w 250166"/>
              <a:gd name="connsiteY0" fmla="*/ 17962 h 483788"/>
              <a:gd name="connsiteX1" fmla="*/ 25879 w 250166"/>
              <a:gd name="connsiteY1" fmla="*/ 17962 h 483788"/>
              <a:gd name="connsiteX2" fmla="*/ 43132 w 250166"/>
              <a:gd name="connsiteY2" fmla="*/ 69720 h 483788"/>
              <a:gd name="connsiteX3" fmla="*/ 25879 w 250166"/>
              <a:gd name="connsiteY3" fmla="*/ 337139 h 483788"/>
              <a:gd name="connsiteX4" fmla="*/ 17252 w 250166"/>
              <a:gd name="connsiteY4" fmla="*/ 363018 h 483788"/>
              <a:gd name="connsiteX5" fmla="*/ 8626 w 250166"/>
              <a:gd name="connsiteY5" fmla="*/ 432030 h 483788"/>
              <a:gd name="connsiteX6" fmla="*/ 0 w 250166"/>
              <a:gd name="connsiteY6" fmla="*/ 457909 h 483788"/>
              <a:gd name="connsiteX7" fmla="*/ 8626 w 250166"/>
              <a:gd name="connsiteY7" fmla="*/ 483788 h 483788"/>
              <a:gd name="connsiteX8" fmla="*/ 138022 w 250166"/>
              <a:gd name="connsiteY8" fmla="*/ 475162 h 483788"/>
              <a:gd name="connsiteX9" fmla="*/ 163901 w 250166"/>
              <a:gd name="connsiteY9" fmla="*/ 466535 h 483788"/>
              <a:gd name="connsiteX10" fmla="*/ 215660 w 250166"/>
              <a:gd name="connsiteY10" fmla="*/ 466535 h 483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50166" h="483788">
                <a:moveTo>
                  <a:pt x="250166" y="17962"/>
                </a:moveTo>
                <a:cubicBezTo>
                  <a:pt x="174555" y="2839"/>
                  <a:pt x="111177" y="-13464"/>
                  <a:pt x="25879" y="17962"/>
                </a:cubicBezTo>
                <a:cubicBezTo>
                  <a:pt x="8814" y="24249"/>
                  <a:pt x="43132" y="69720"/>
                  <a:pt x="43132" y="69720"/>
                </a:cubicBezTo>
                <a:cubicBezTo>
                  <a:pt x="39964" y="148925"/>
                  <a:pt x="44835" y="251838"/>
                  <a:pt x="25879" y="337139"/>
                </a:cubicBezTo>
                <a:cubicBezTo>
                  <a:pt x="23906" y="346015"/>
                  <a:pt x="20128" y="354392"/>
                  <a:pt x="17252" y="363018"/>
                </a:cubicBezTo>
                <a:cubicBezTo>
                  <a:pt x="14377" y="386022"/>
                  <a:pt x="12773" y="409221"/>
                  <a:pt x="8626" y="432030"/>
                </a:cubicBezTo>
                <a:cubicBezTo>
                  <a:pt x="6999" y="440976"/>
                  <a:pt x="0" y="448816"/>
                  <a:pt x="0" y="457909"/>
                </a:cubicBezTo>
                <a:cubicBezTo>
                  <a:pt x="0" y="467002"/>
                  <a:pt x="5751" y="475162"/>
                  <a:pt x="8626" y="483788"/>
                </a:cubicBezTo>
                <a:cubicBezTo>
                  <a:pt x="51758" y="480913"/>
                  <a:pt x="95059" y="479936"/>
                  <a:pt x="138022" y="475162"/>
                </a:cubicBezTo>
                <a:cubicBezTo>
                  <a:pt x="147059" y="474158"/>
                  <a:pt x="154864" y="467539"/>
                  <a:pt x="163901" y="466535"/>
                </a:cubicBezTo>
                <a:cubicBezTo>
                  <a:pt x="181048" y="464630"/>
                  <a:pt x="198407" y="466535"/>
                  <a:pt x="215660" y="466535"/>
                </a:cubicBez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ouble Bracket 5"/>
          <p:cNvSpPr/>
          <p:nvPr/>
        </p:nvSpPr>
        <p:spPr>
          <a:xfrm>
            <a:off x="2130725" y="5261404"/>
            <a:ext cx="2700067" cy="531786"/>
          </a:xfrm>
          <a:prstGeom prst="bracketPair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>
            <a:stCxn id="6" idx="1"/>
          </p:cNvCxnSpPr>
          <p:nvPr/>
        </p:nvCxnSpPr>
        <p:spPr>
          <a:xfrm flipH="1">
            <a:off x="1837426" y="5527297"/>
            <a:ext cx="2932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1837426" y="5518671"/>
            <a:ext cx="0" cy="34729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883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7668" t="5334" r="46832" b="13482"/>
          <a:stretch/>
        </p:blipFill>
        <p:spPr>
          <a:xfrm>
            <a:off x="6288657" y="290881"/>
            <a:ext cx="4975860" cy="640087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A) Student Profiles 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463040"/>
            <a:ext cx="4824425" cy="4770098"/>
          </a:xfrm>
        </p:spPr>
        <p:txBody>
          <a:bodyPr/>
          <a:lstStyle/>
          <a:p>
            <a:r>
              <a:rPr lang="en-US" dirty="0" smtClean="0"/>
              <a:t>Additionally, the database stores all the resources that the user had completed and/or is currently taking as well as:</a:t>
            </a:r>
          </a:p>
          <a:p>
            <a:pPr marL="457200" lvl="1" indent="0">
              <a:buNone/>
            </a:pPr>
            <a:r>
              <a:rPr lang="en-US" dirty="0" smtClean="0"/>
              <a:t>-   The </a:t>
            </a:r>
            <a:r>
              <a:rPr lang="en-US" dirty="0" smtClean="0">
                <a:solidFill>
                  <a:srgbClr val="79AE02"/>
                </a:solidFill>
              </a:rPr>
              <a:t>category</a:t>
            </a:r>
            <a:r>
              <a:rPr lang="en-US" dirty="0" smtClean="0"/>
              <a:t> of the resource</a:t>
            </a:r>
          </a:p>
          <a:p>
            <a:pPr lvl="1">
              <a:buFontTx/>
              <a:buChar char="-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79AE02"/>
                </a:solidFill>
              </a:rPr>
              <a:t>grade</a:t>
            </a:r>
            <a:r>
              <a:rPr lang="en-US" dirty="0" smtClean="0"/>
              <a:t> the user got</a:t>
            </a:r>
          </a:p>
          <a:p>
            <a:pPr lvl="1">
              <a:buFontTx/>
              <a:buChar char="-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067F9C"/>
                </a:solidFill>
              </a:rPr>
              <a:t>(expected) </a:t>
            </a:r>
            <a:r>
              <a:rPr lang="en-US" dirty="0" smtClean="0"/>
              <a:t>completion date</a:t>
            </a:r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79AE02"/>
                </a:solidFill>
              </a:rPr>
              <a:t>proficiency level </a:t>
            </a:r>
            <a:r>
              <a:rPr lang="en-US" dirty="0" smtClean="0"/>
              <a:t>is then calculated using the user’s performance to determine whether it is:</a:t>
            </a:r>
          </a:p>
          <a:p>
            <a:pPr marL="457200" lvl="1" indent="0">
              <a:buNone/>
            </a:pPr>
            <a:r>
              <a:rPr lang="en-US" dirty="0" smtClean="0"/>
              <a:t>-   Beginner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 smtClean="0"/>
              <a:t>Advanced</a:t>
            </a:r>
            <a:endParaRPr lang="en-US" dirty="0"/>
          </a:p>
          <a:p>
            <a:pPr marL="457200" lvl="1" indent="0">
              <a:buNone/>
            </a:pPr>
            <a:r>
              <a:rPr lang="en-US" smtClean="0"/>
              <a:t>-   Expert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288657" y="3891222"/>
            <a:ext cx="3743864" cy="2423314"/>
          </a:xfrm>
          <a:prstGeom prst="rect">
            <a:avLst/>
          </a:prstGeom>
          <a:noFill/>
          <a:ln w="38100">
            <a:solidFill>
              <a:srgbClr val="067F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182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B) Browser Activity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=""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463040"/>
            <a:ext cx="5229866" cy="4204515"/>
          </a:xfrm>
        </p:spPr>
        <p:txBody>
          <a:bodyPr/>
          <a:lstStyle/>
          <a:p>
            <a:r>
              <a:rPr lang="en-US" dirty="0"/>
              <a:t>S</a:t>
            </a:r>
            <a:r>
              <a:rPr lang="en-US" dirty="0" smtClean="0"/>
              <a:t>ystem generates an activity ID (</a:t>
            </a:r>
            <a:r>
              <a:rPr lang="en-US" dirty="0" err="1" smtClean="0">
                <a:solidFill>
                  <a:srgbClr val="79AE02"/>
                </a:solidFill>
              </a:rPr>
              <a:t>ObjectID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This table stores each student (</a:t>
            </a:r>
            <a:r>
              <a:rPr lang="en-US" dirty="0" err="1" smtClean="0">
                <a:solidFill>
                  <a:srgbClr val="79AE02"/>
                </a:solidFill>
              </a:rPr>
              <a:t>student_id</a:t>
            </a:r>
            <a:r>
              <a:rPr lang="en-US" dirty="0" smtClean="0"/>
              <a:t>) along with each webpage they visited (</a:t>
            </a:r>
            <a:r>
              <a:rPr lang="en-US" dirty="0" err="1" smtClean="0">
                <a:solidFill>
                  <a:srgbClr val="79AE02"/>
                </a:solidFill>
              </a:rPr>
              <a:t>url</a:t>
            </a:r>
            <a:r>
              <a:rPr lang="en-US" dirty="0" smtClean="0"/>
              <a:t>)</a:t>
            </a:r>
          </a:p>
          <a:p>
            <a:r>
              <a:rPr lang="en-US" dirty="0" smtClean="0"/>
              <a:t>Additionally, we store the type of interaction performed such as:</a:t>
            </a:r>
          </a:p>
          <a:p>
            <a:pPr lvl="1">
              <a:buFontTx/>
              <a:buChar char="-"/>
            </a:pPr>
            <a:r>
              <a:rPr lang="en-US" dirty="0" smtClean="0"/>
              <a:t>Viewing </a:t>
            </a:r>
            <a:r>
              <a:rPr lang="en-US" dirty="0" smtClean="0">
                <a:solidFill>
                  <a:srgbClr val="067F9C"/>
                </a:solidFill>
              </a:rPr>
              <a:t>(opening the webpage)</a:t>
            </a:r>
            <a:endParaRPr lang="en-US" dirty="0">
              <a:solidFill>
                <a:srgbClr val="067F9C"/>
              </a:solidFill>
            </a:endParaRPr>
          </a:p>
          <a:p>
            <a:pPr lvl="1">
              <a:buFontTx/>
              <a:buChar char="-"/>
            </a:pPr>
            <a:r>
              <a:rPr lang="en-US" dirty="0" smtClean="0"/>
              <a:t>Scrolling </a:t>
            </a:r>
            <a:r>
              <a:rPr lang="en-US" dirty="0" smtClean="0">
                <a:solidFill>
                  <a:srgbClr val="067F9C"/>
                </a:solidFill>
              </a:rPr>
              <a:t>(engaging with the webpage)</a:t>
            </a:r>
            <a:endParaRPr lang="en-US" dirty="0">
              <a:solidFill>
                <a:srgbClr val="067F9C"/>
              </a:solidFill>
            </a:endParaRPr>
          </a:p>
          <a:p>
            <a:pPr lvl="1">
              <a:buFontTx/>
              <a:buChar char="-"/>
            </a:pPr>
            <a:r>
              <a:rPr lang="en-US" dirty="0" smtClean="0"/>
              <a:t>Clicking  </a:t>
            </a:r>
            <a:r>
              <a:rPr lang="en-US" dirty="0" smtClean="0">
                <a:solidFill>
                  <a:srgbClr val="067F9C"/>
                </a:solidFill>
              </a:rPr>
              <a:t>(interacting with the webpage)</a:t>
            </a:r>
          </a:p>
          <a:p>
            <a:r>
              <a:rPr lang="en-US" dirty="0" smtClean="0"/>
              <a:t>Finally, we store the duration &amp; time of each visit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7901" t="10692" r="52948" b="60126"/>
          <a:stretch/>
        </p:blipFill>
        <p:spPr>
          <a:xfrm>
            <a:off x="7840603" y="1445788"/>
            <a:ext cx="3968959" cy="2234949"/>
          </a:xfrm>
          <a:prstGeom prst="rect">
            <a:avLst/>
          </a:prstGeom>
          <a:ln w="25400">
            <a:solidFill>
              <a:srgbClr val="067F9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46314" y="5820217"/>
            <a:ext cx="1136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67F9C"/>
                </a:solidFill>
              </a:rPr>
              <a:t>Note </a:t>
            </a:r>
            <a:r>
              <a:rPr lang="en-US" u="sng" dirty="0" smtClean="0">
                <a:solidFill>
                  <a:srgbClr val="067F9C"/>
                </a:solidFill>
              </a:rPr>
              <a:t>that:</a:t>
            </a:r>
            <a:r>
              <a:rPr lang="en-US" dirty="0" smtClean="0">
                <a:solidFill>
                  <a:srgbClr val="067F9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the same webpage is visited </a:t>
            </a:r>
            <a:r>
              <a:rPr 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twice by the same student, it will have two separate entries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050" name="Picture 2" descr="Curved Arrows - Skitch for Mac Requests - Evernote User For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11631">
            <a:off x="5819338" y="3787529"/>
            <a:ext cx="3642736" cy="159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9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=""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C) Feedback Responses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744" y="1091146"/>
            <a:ext cx="4453357" cy="2606843"/>
          </a:xfrm>
          <a:prstGeom prst="rect">
            <a:avLst/>
          </a:prstGeom>
          <a:ln w="25400">
            <a:solidFill>
              <a:srgbClr val="067F9C"/>
            </a:solidFill>
          </a:ln>
        </p:spPr>
      </p:pic>
      <p:pic>
        <p:nvPicPr>
          <p:cNvPr id="2050" name="Picture 2" descr="Curved Arrows - Skitch for Mac Requests - Evernote User For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11631">
            <a:off x="5819338" y="3787529"/>
            <a:ext cx="3642736" cy="1593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46315" y="1463040"/>
            <a:ext cx="5451565" cy="4770098"/>
          </a:xfrm>
        </p:spPr>
        <p:txBody>
          <a:bodyPr/>
          <a:lstStyle/>
          <a:p>
            <a:r>
              <a:rPr lang="en-US" dirty="0" smtClean="0"/>
              <a:t>After completion, an </a:t>
            </a:r>
            <a:r>
              <a:rPr lang="en-US" dirty="0" smtClean="0">
                <a:solidFill>
                  <a:srgbClr val="067F9C"/>
                </a:solidFill>
              </a:rPr>
              <a:t>e-questionnaire</a:t>
            </a:r>
            <a:r>
              <a:rPr lang="en-US" dirty="0" smtClean="0"/>
              <a:t> is submitted by the user about their learning experience</a:t>
            </a:r>
          </a:p>
          <a:p>
            <a:r>
              <a:rPr lang="en-US" dirty="0"/>
              <a:t>Users give a rating of:</a:t>
            </a:r>
          </a:p>
          <a:p>
            <a:pPr lvl="1">
              <a:buFontTx/>
              <a:buChar char="-"/>
            </a:pPr>
            <a:r>
              <a:rPr lang="en-US" dirty="0"/>
              <a:t>How much they found it </a:t>
            </a:r>
            <a:r>
              <a:rPr lang="en-US" dirty="0">
                <a:solidFill>
                  <a:srgbClr val="79AE02"/>
                </a:solidFill>
              </a:rPr>
              <a:t>interesting</a:t>
            </a:r>
          </a:p>
          <a:p>
            <a:pPr lvl="1">
              <a:buFontTx/>
              <a:buChar char="-"/>
            </a:pPr>
            <a:r>
              <a:rPr lang="en-US" dirty="0"/>
              <a:t>How much they found it </a:t>
            </a:r>
            <a:r>
              <a:rPr lang="en-US" dirty="0" smtClean="0">
                <a:solidFill>
                  <a:srgbClr val="79AE02"/>
                </a:solidFill>
              </a:rPr>
              <a:t>useful</a:t>
            </a:r>
          </a:p>
          <a:p>
            <a:r>
              <a:rPr lang="en-US" dirty="0" smtClean="0"/>
              <a:t>They also submit the degree of </a:t>
            </a:r>
            <a:r>
              <a:rPr lang="en-US" dirty="0" smtClean="0">
                <a:solidFill>
                  <a:srgbClr val="79AE02"/>
                </a:solidFill>
              </a:rPr>
              <a:t>difficulty</a:t>
            </a:r>
            <a:r>
              <a:rPr lang="en-US" dirty="0" smtClean="0"/>
              <a:t> of which they found the learning resource</a:t>
            </a:r>
          </a:p>
          <a:p>
            <a:r>
              <a:rPr lang="en-US" dirty="0" smtClean="0"/>
              <a:t>Finally, the table also stores:</a:t>
            </a:r>
          </a:p>
          <a:p>
            <a:pPr lvl="1">
              <a:buFontTx/>
              <a:buChar char="-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79AE02"/>
                </a:solidFill>
              </a:rPr>
              <a:t>category</a:t>
            </a:r>
            <a:r>
              <a:rPr lang="en-US" dirty="0" smtClean="0"/>
              <a:t> of the resource/webpage</a:t>
            </a:r>
          </a:p>
          <a:p>
            <a:pPr lvl="1">
              <a:buFontTx/>
              <a:buChar char="-"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79AE02"/>
                </a:solidFill>
              </a:rPr>
              <a:t>time</a:t>
            </a:r>
            <a:r>
              <a:rPr lang="en-US" dirty="0" smtClean="0"/>
              <a:t> at which the feedback was submitted</a:t>
            </a:r>
          </a:p>
        </p:txBody>
      </p:sp>
    </p:spTree>
    <p:extLst>
      <p:ext uri="{BB962C8B-B14F-4D97-AF65-F5344CB8AC3E}">
        <p14:creationId xmlns:p14="http://schemas.microsoft.com/office/powerpoint/2010/main" val="4270261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="" xmlns:a16="http://schemas.microsoft.com/office/drawing/2014/main" id="{C7A54B61-8541-AB40-BD1C-F80E8A4240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" y="0"/>
            <a:ext cx="12189023" cy="6858000"/>
          </a:xfrm>
        </p:spPr>
      </p:pic>
      <p:sp>
        <p:nvSpPr>
          <p:cNvPr id="32" name="Picture Placeholder 13">
            <a:extLst>
              <a:ext uri="{FF2B5EF4-FFF2-40B4-BE49-F238E27FC236}">
                <a16:creationId xmlns="" xmlns:a16="http://schemas.microsoft.com/office/drawing/2014/main" id="{8DBDD9F7-3B84-F743-95F4-C9FA74DA597F}"/>
              </a:ext>
            </a:extLst>
          </p:cNvPr>
          <p:cNvSpPr txBox="1">
            <a:spLocks/>
          </p:cNvSpPr>
          <p:nvPr/>
        </p:nvSpPr>
        <p:spPr>
          <a:xfrm flipH="1">
            <a:off x="0" y="3895249"/>
            <a:ext cx="12192000" cy="2962751"/>
          </a:xfrm>
          <a:custGeom>
            <a:avLst/>
            <a:gdLst>
              <a:gd name="connsiteX0" fmla="*/ 12486732 w 13339868"/>
              <a:gd name="connsiteY0" fmla="*/ 1914 h 2962751"/>
              <a:gd name="connsiteX1" fmla="*/ 6703529 w 13339868"/>
              <a:gd name="connsiteY1" fmla="*/ 827870 h 2962751"/>
              <a:gd name="connsiteX2" fmla="*/ 704617 w 13339868"/>
              <a:gd name="connsiteY2" fmla="*/ 1735152 h 2962751"/>
              <a:gd name="connsiteX3" fmla="*/ 0 w 13339868"/>
              <a:gd name="connsiteY3" fmla="*/ 1775657 h 2962751"/>
              <a:gd name="connsiteX4" fmla="*/ 0 w 13339868"/>
              <a:gd name="connsiteY4" fmla="*/ 2962751 h 2962751"/>
              <a:gd name="connsiteX5" fmla="*/ 13339868 w 13339868"/>
              <a:gd name="connsiteY5" fmla="*/ 2962751 h 2962751"/>
              <a:gd name="connsiteX6" fmla="*/ 13339868 w 13339868"/>
              <a:gd name="connsiteY6" fmla="*/ 13763 h 2962751"/>
              <a:gd name="connsiteX7" fmla="*/ 12991874 w 13339868"/>
              <a:gd name="connsiteY7" fmla="*/ 2211 h 2962751"/>
              <a:gd name="connsiteX8" fmla="*/ 12486732 w 13339868"/>
              <a:gd name="connsiteY8" fmla="*/ 1914 h 296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9868" h="2962751">
                <a:moveTo>
                  <a:pt x="12486732" y="1914"/>
                </a:moveTo>
                <a:cubicBezTo>
                  <a:pt x="11089145" y="23578"/>
                  <a:pt x="9273241" y="233112"/>
                  <a:pt x="6703529" y="827870"/>
                </a:cubicBezTo>
                <a:cubicBezTo>
                  <a:pt x="4500510" y="1337758"/>
                  <a:pt x="2693772" y="1601336"/>
                  <a:pt x="704617" y="1735152"/>
                </a:cubicBezTo>
                <a:lnTo>
                  <a:pt x="0" y="1775657"/>
                </a:lnTo>
                <a:lnTo>
                  <a:pt x="0" y="2962751"/>
                </a:lnTo>
                <a:lnTo>
                  <a:pt x="13339868" y="2962751"/>
                </a:lnTo>
                <a:lnTo>
                  <a:pt x="13339868" y="13763"/>
                </a:lnTo>
                <a:lnTo>
                  <a:pt x="12991874" y="2211"/>
                </a:lnTo>
                <a:cubicBezTo>
                  <a:pt x="12829592" y="-567"/>
                  <a:pt x="12661430" y="-794"/>
                  <a:pt x="12486732" y="1914"/>
                </a:cubicBezTo>
                <a:close/>
              </a:path>
            </a:pathLst>
          </a:custGeom>
          <a:solidFill>
            <a:schemeClr val="tx1">
              <a:alpha val="62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1800" b="0" kern="1200" dirty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Insert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7F67FDF-D697-3249-AD21-75F6353FFB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438912" y="4690872"/>
            <a:ext cx="73152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Title 50">
            <a:extLst>
              <a:ext uri="{FF2B5EF4-FFF2-40B4-BE49-F238E27FC236}">
                <a16:creationId xmlns="" xmlns:a16="http://schemas.microsoft.com/office/drawing/2014/main" id="{D8694222-4D81-4A9A-93A2-23C89102F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21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SFT_01">
      <a:dk1>
        <a:sysClr val="windowText" lastClr="000000"/>
      </a:dk1>
      <a:lt1>
        <a:sysClr val="window" lastClr="FFFFFF"/>
      </a:lt1>
      <a:dk2>
        <a:srgbClr val="3F3F3F"/>
      </a:dk2>
      <a:lt2>
        <a:srgbClr val="FFFFFF"/>
      </a:lt2>
      <a:accent1>
        <a:srgbClr val="01C6FD"/>
      </a:accent1>
      <a:accent2>
        <a:srgbClr val="067F9C"/>
      </a:accent2>
      <a:accent3>
        <a:srgbClr val="014E52"/>
      </a:accent3>
      <a:accent4>
        <a:srgbClr val="ED7D31"/>
      </a:accent4>
      <a:accent5>
        <a:srgbClr val="79AE02"/>
      </a:accent5>
      <a:accent6>
        <a:srgbClr val="0070C0"/>
      </a:accent6>
      <a:hlink>
        <a:srgbClr val="01C6FD"/>
      </a:hlink>
      <a:folHlink>
        <a:srgbClr val="954F72"/>
      </a:folHlink>
    </a:clrScheme>
    <a:fontScheme name="MSFT_0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89715846_Ocean presentation_RVA_v4.potx" id="{354FE8D4-E883-4E79-A422-6A1915D44872}" vid="{AAC9F203-D7BC-4B95-936D-67F55828A5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9B7651-08C1-49A1-AFE9-4E4CD342176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8E2C315-492F-482C-BE04-955377E16A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3D7A05-DE9A-4773-A113-AAE964924F7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Ocean presentation</Template>
  <TotalTime>0</TotalTime>
  <Words>577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 Gothic</vt:lpstr>
      <vt:lpstr>Office Theme</vt:lpstr>
      <vt:lpstr>SmartGuard Project</vt:lpstr>
      <vt:lpstr>1. Research Papers</vt:lpstr>
      <vt:lpstr>User profiling Papers</vt:lpstr>
      <vt:lpstr>Profiling Types</vt:lpstr>
      <vt:lpstr>Profiling Types</vt:lpstr>
      <vt:lpstr>2. Database Schema</vt:lpstr>
      <vt:lpstr>A) Student Profiles </vt:lpstr>
      <vt:lpstr>A) Student Profiles </vt:lpstr>
      <vt:lpstr>A) Student Profiles </vt:lpstr>
      <vt:lpstr>A) Student Profiles </vt:lpstr>
      <vt:lpstr>B) Browser Activity</vt:lpstr>
      <vt:lpstr>C) Feedback Responses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2026-02-28T04:46:29Z</dcterms:created>
  <dcterms:modified xsi:type="dcterms:W3CDTF">2026-02-28T23:08:13Z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